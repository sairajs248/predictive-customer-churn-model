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dfa5729-0cf2-25a1-b987-4c0ef05bbc00}">
          <p14:sldIdLst>
            <p14:sldId id="256"/>
            <p14:sldId id="257"/>
            <p14:sldId id="258"/>
          </p14:sldIdLst>
        </p14:section>
        <p14:section name="Findings" id="{5481221f-b892-f3ea-73a9-1fdc4ac9aaf9}">
          <p14:sldIdLst>
            <p14:sldId id="259"/>
            <p14:sldId id="260"/>
            <p14:sldId id="261"/>
          </p14:sldIdLst>
        </p14:section>
        <p14:section name="Models" id="{c990e12e-e7dc-dc2a-41ae-ba14cb30f3c2}">
          <p14:sldIdLst>
            <p14:sldId id="262"/>
            <p14:sldId id="263"/>
            <p14:sldId id="264"/>
          </p14:sldIdLst>
        </p14:section>
        <p14:section name="Explainability" id="{59d83f0b-9279-5f9d-73d4-19a888e03fca}">
          <p14:sldIdLst>
            <p14:sldId id="265"/>
            <p14:sldId id="266"/>
          </p14:sldIdLst>
        </p14:section>
        <p14:section name="Recommendations" id="{eb4ad3f5-ee87-8fe6-eb4e-5366eecc539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2742"/>
                </a:solidFill>
                <a:latin typeface="+mn-lt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</c:v>
                </c:pt>
                <c:pt idx="1">
                  <c:v>0.113</c:v>
                </c:pt>
                <c:pt idx="2">
                  <c:v>0.028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2742"/>
                </a:solidFill>
                <a:latin typeface="+mn-lt"/>
              </a:rPr>
              <a:t>Cross-validated ROC-AUC (5 folds)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/ baseline</c:v>
                </c:pt>
              </c:strCache>
            </c:strRef>
          </c:tx>
          <c:spPr>
            <a:solidFill>
              <a:srgbClr val="9BB7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0.846</c:v>
                </c:pt>
                <c:pt idx="1">
                  <c:v>0.827</c:v>
                </c:pt>
                <c:pt idx="2">
                  <c:v>0.824</c:v>
                </c:pt>
                <c:pt idx="3">
                  <c:v>0.838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(GridSearchCV)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0.846</c:v>
                </c:pt>
                <c:pt idx="1">
                  <c:v>0.848</c:v>
                </c:pt>
                <c:pt idx="2">
                  <c:v>0.85</c:v>
                </c:pt>
                <c:pt idx="3">
                  <c:v>0.849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8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2742"/>
                </a:solidFill>
                <a:latin typeface="+mn-lt"/>
              </a:rPr>
              <a:t>Net value on the 1,409 test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campaign value ($)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$#,##0;-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Contact everyone</c:v>
                  </c:pt>
                  <c:pt idx="1">
                    <c:v>Random (same budget)</c:v>
                  </c:pt>
                  <c:pt idx="2">
                    <c:v>Model-targeted (≥ 0.65)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-42926</c:v>
                </c:pt>
                <c:pt idx="1">
                  <c:v>-12674</c:v>
                </c:pt>
                <c:pt idx="2">
                  <c:v>26344</c:v>
                </c:pt>
              </c:numCache>
            </c:numRef>
          </c:val>
        </c:ser>
        <c:dLbls>
          <c:numFmt formatCode="$#,##0;-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-80000"/>
        </c:scaling>
        <c:delete val="0"/>
        <c:axPos val="b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$#,##0,&quot;k&quot;;-$#,##0,&quot;k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2742"/>
                </a:solidFill>
                <a:latin typeface="+mn-lt"/>
              </a:rPr>
              <a:t>Share of customers with each trait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customers</c:v>
                </c:pt>
              </c:strCache>
            </c:strRef>
          </c:tx>
          <c:spPr>
            <a:solidFill>
              <a:srgbClr val="9BB7D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Month-to-month</c:v>
                  </c:pt>
                  <c:pt idx="1">
                    <c:v>No online security</c:v>
                  </c:pt>
                  <c:pt idx="2">
                    <c:v>Fiber optic</c:v>
                  </c:pt>
                  <c:pt idx="3">
                    <c:v>Electronic check</c:v>
                  </c:pt>
                  <c:pt idx="4">
                    <c:v>Tenure ≤ 12 months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</c:v>
                </c:pt>
                <c:pt idx="1">
                  <c:v>0.5</c:v>
                </c:pt>
                <c:pt idx="2">
                  <c:v>0.44</c:v>
                </c:pt>
                <c:pt idx="3">
                  <c:v>0.34</c:v>
                </c:pt>
                <c:pt idx="4">
                  <c:v>0.31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Flagged high-risk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Month-to-month</c:v>
                  </c:pt>
                  <c:pt idx="1">
                    <c:v>No online security</c:v>
                  </c:pt>
                  <c:pt idx="2">
                    <c:v>Fiber optic</c:v>
                  </c:pt>
                  <c:pt idx="3">
                    <c:v>Electronic check</c:v>
                  </c:pt>
                  <c:pt idx="4">
                    <c:v>Tenure ≤ 12 months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0.91</c:v>
                </c:pt>
                <c:pt idx="2">
                  <c:v>0.82</c:v>
                </c:pt>
                <c:pt idx="3">
                  <c:v>0.69</c:v>
                </c:pt>
                <c:pt idx="4">
                  <c:v>0.63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ConnectTel is losing revenue to churn. The goal was a model that flags at-risk customers early, explains why, and turns that into a retention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Acquiring a customer costs more than keeping one. With only about a quarter of customers churning, accuracy is misleading, so the project optimises ranking quality (ROC-AUC) and looks at precision and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followed the brief's four-week plan. Preprocessing lives inside a scikit-learn Pipeline so cross-validation never leaks information, and the test set was used exactly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analysis found contract length, internet type, tenure and payment method all strongly linked to churn. The highest-risk combination is month-to-month fiber customers, who churn at about 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 tests with Cramér's V for effect size. Gender is a control that should not be significant, and it is not. The partner effect is real as a raw association, but disappears in the model once tenure and contract are 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asked for at least three engineered features; six were built. One honest result: the ratio feature is almost identical to MonthlyCharges in this dataset, which was checked and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194 hyperparameter combinations times 5 folds. XGBoost was selected on cross-validated AUC, not on the test set, to keep the test result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tree models are statistically tied on the test set. The boosted models keep higher precision among the very highest-risk customers, which matters for a budget-limited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threshold was chosen on out-of-fold training predictions to maximise campaign value, then applied unchanged to the test set. The cost assumptions are illustrative and can be replaced with real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answers the brief's key question directly. Contract type has about seven times the impact of the monthly charge. A blanket price cut would address the smaller problem; longer contracts address the bigger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customer was scored without leakage: out-of-fold scores for training customers, test scores for test customers. The flagged group is highly concentrated, which makes the retention strategy simple to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conversion is by far the strongest lever. Also recommended: investigate the fiber product itself, since fiber churns more even after controlling for price, and avoid blanket price cuts.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model works, the drivers are clear, and the recommendations are actionable. Main limitation: the lever estimates are model-based and need an experiment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ConnectTel · Predictive Customer Churn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 at ConnectTel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An end-to-end machine learning pipeline: data exploration → models → explainability → retention strategy</a:t>
            </a:r>
            <a:endParaRPr lang="en-US" sz="18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Machine Learning Engineering Internship Project  ·  Tejas Waghere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1 in 4 customers is leaving</a:t>
            </a:r>
            <a:endParaRPr lang="en-US" sz="2800" dirty="0"/>
          </a:p>
        </p:txBody>
      </p:sp>
      <p:sp>
        <p:nvSpPr>
          <p:cNvPr id="3" name="Customers card"/>
          <p:cNvSpPr/>
          <p:nvPr/>
        </p:nvSpPr>
        <p:spPr>
          <a:xfrm>
            <a:off x="45720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ustomers value"/>
          <p:cNvSpPr txBox="1"/>
          <p:nvPr/>
        </p:nvSpPr>
        <p:spPr>
          <a:xfrm>
            <a:off x="59436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400" dirty="0"/>
          </a:p>
        </p:txBody>
      </p:sp>
      <p:sp>
        <p:nvSpPr>
          <p:cNvPr id="5" name="Customers label"/>
          <p:cNvSpPr txBox="1"/>
          <p:nvPr/>
        </p:nvSpPr>
        <p:spPr>
          <a:xfrm>
            <a:off x="59436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in the IBM Telco dataset</a:t>
            </a:r>
            <a:endParaRPr lang="en-US" sz="1200" dirty="0"/>
          </a:p>
        </p:txBody>
      </p:sp>
      <p:sp>
        <p:nvSpPr>
          <p:cNvPr id="6" name="Churn rate card"/>
          <p:cNvSpPr/>
          <p:nvPr/>
        </p:nvSpPr>
        <p:spPr>
          <a:xfrm>
            <a:off x="329184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urn rate value"/>
          <p:cNvSpPr txBox="1"/>
          <p:nvPr/>
        </p:nvSpPr>
        <p:spPr>
          <a:xfrm>
            <a:off x="342900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8" name="Churn rate label"/>
          <p:cNvSpPr txBox="1"/>
          <p:nvPr/>
        </p:nvSpPr>
        <p:spPr>
          <a:xfrm>
            <a:off x="342900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churned (cancelled their subscription)</a:t>
            </a:r>
            <a:endParaRPr lang="en-US" sz="1200" dirty="0"/>
          </a:p>
        </p:txBody>
      </p:sp>
      <p:sp>
        <p:nvSpPr>
          <p:cNvPr id="9" name="Imbalance card"/>
          <p:cNvSpPr/>
          <p:nvPr/>
        </p:nvSpPr>
        <p:spPr>
          <a:xfrm>
            <a:off x="612648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mbalance value"/>
          <p:cNvSpPr txBox="1"/>
          <p:nvPr/>
        </p:nvSpPr>
        <p:spPr>
          <a:xfrm>
            <a:off x="626364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: 1</a:t>
            </a:r>
            <a:endParaRPr lang="en-US" sz="3400" dirty="0"/>
          </a:p>
        </p:txBody>
      </p:sp>
      <p:sp>
        <p:nvSpPr>
          <p:cNvPr id="11" name="Imbalance label"/>
          <p:cNvSpPr txBox="1"/>
          <p:nvPr/>
        </p:nvSpPr>
        <p:spPr>
          <a:xfrm>
            <a:off x="626364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retained-to-churned ratio (imbalanced classes)</a:t>
            </a:r>
            <a:endParaRPr lang="en-US" sz="1200" dirty="0"/>
          </a:p>
        </p:txBody>
      </p:sp>
      <p:sp>
        <p:nvSpPr>
          <p:cNvPr id="12" name="Goal and metric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Goal: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rank every customer by churn risk so the retention team can intervene before they cancel.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not accuracy?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predicting "nobody churns" is already 73% accurate and useless. We optimise ROC-AUC and inspect precision vs recall instead.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a four-phase pipeline</a:t>
            </a:r>
            <a:endParaRPr lang="en-US" sz="2800" dirty="0"/>
          </a:p>
        </p:txBody>
      </p:sp>
      <p:sp>
        <p:nvSpPr>
          <p:cNvPr id="3" name="Phase 1 card"/>
          <p:cNvSpPr/>
          <p:nvPr/>
        </p:nvSpPr>
        <p:spPr>
          <a:xfrm>
            <a:off x="457200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1 badg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hase 1 number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hase 1 heading"/>
          <p:cNvSpPr txBox="1"/>
          <p:nvPr/>
        </p:nvSpPr>
        <p:spPr>
          <a:xfrm>
            <a:off x="64008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Explore &amp; engineer</a:t>
            </a:r>
            <a:endParaRPr lang="en-US" sz="1600" dirty="0"/>
          </a:p>
        </p:txBody>
      </p:sp>
      <p:sp>
        <p:nvSpPr>
          <p:cNvPr id="7" name="Phase 1 detail"/>
          <p:cNvSpPr txBox="1"/>
          <p:nvPr/>
        </p:nvSpPr>
        <p:spPr>
          <a:xfrm>
            <a:off x="640080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EDA, hypothesis tests, 6 new features, one-hot encoding + scaling</a:t>
            </a:r>
            <a:endParaRPr lang="en-US" sz="1300" dirty="0"/>
          </a:p>
        </p:txBody>
      </p:sp>
      <p:sp>
        <p:nvSpPr>
          <p:cNvPr id="8" name="Phase 2 card"/>
          <p:cNvSpPr/>
          <p:nvPr/>
        </p:nvSpPr>
        <p:spPr>
          <a:xfrm>
            <a:off x="2578608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hase 2 badge"/>
          <p:cNvSpPr/>
          <p:nvPr/>
        </p:nvSpPr>
        <p:spPr>
          <a:xfrm>
            <a:off x="2761488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hase 2 number"/>
          <p:cNvSpPr txBox="1"/>
          <p:nvPr/>
        </p:nvSpPr>
        <p:spPr>
          <a:xfrm>
            <a:off x="276148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hase 2 heading"/>
          <p:cNvSpPr txBox="1"/>
          <p:nvPr/>
        </p:nvSpPr>
        <p:spPr>
          <a:xfrm>
            <a:off x="2761488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Baseline models</a:t>
            </a:r>
            <a:endParaRPr lang="en-US" sz="1600" dirty="0"/>
          </a:p>
        </p:txBody>
      </p:sp>
      <p:sp>
        <p:nvSpPr>
          <p:cNvPr id="12" name="Phase 2 detail"/>
          <p:cNvSpPr txBox="1"/>
          <p:nvPr/>
        </p:nvSpPr>
        <p:spPr>
          <a:xfrm>
            <a:off x="2761488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 + Random Forest, stratified 5-fold cross-validation</a:t>
            </a:r>
            <a:endParaRPr lang="en-US" sz="1300" dirty="0"/>
          </a:p>
        </p:txBody>
      </p:sp>
      <p:sp>
        <p:nvSpPr>
          <p:cNvPr id="13" name="Phase 3 card"/>
          <p:cNvSpPr/>
          <p:nvPr/>
        </p:nvSpPr>
        <p:spPr>
          <a:xfrm>
            <a:off x="4700016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ase 3 badge"/>
          <p:cNvSpPr/>
          <p:nvPr/>
        </p:nvSpPr>
        <p:spPr>
          <a:xfrm>
            <a:off x="4882896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hase 3 number"/>
          <p:cNvSpPr txBox="1"/>
          <p:nvPr/>
        </p:nvSpPr>
        <p:spPr>
          <a:xfrm>
            <a:off x="488289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hase 3 heading"/>
          <p:cNvSpPr txBox="1"/>
          <p:nvPr/>
        </p:nvSpPr>
        <p:spPr>
          <a:xfrm>
            <a:off x="4882896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Boost &amp; tune</a:t>
            </a:r>
            <a:endParaRPr lang="en-US" sz="1600" dirty="0"/>
          </a:p>
        </p:txBody>
      </p:sp>
      <p:sp>
        <p:nvSpPr>
          <p:cNvPr id="17" name="Phase 3 detail"/>
          <p:cNvSpPr txBox="1"/>
          <p:nvPr/>
        </p:nvSpPr>
        <p:spPr>
          <a:xfrm>
            <a:off x="4882896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XGBoost + LightGBM, GridSearchCV (970 fits), held-out test set</a:t>
            </a:r>
            <a:endParaRPr lang="en-US" sz="1300" dirty="0"/>
          </a:p>
        </p:txBody>
      </p:sp>
      <p:sp>
        <p:nvSpPr>
          <p:cNvPr id="18" name="Phase 4 card"/>
          <p:cNvSpPr/>
          <p:nvPr/>
        </p:nvSpPr>
        <p:spPr>
          <a:xfrm>
            <a:off x="6821424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hase 4 badge"/>
          <p:cNvSpPr/>
          <p:nvPr/>
        </p:nvSpPr>
        <p:spPr>
          <a:xfrm>
            <a:off x="7004304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hase 4 number"/>
          <p:cNvSpPr txBox="1"/>
          <p:nvPr/>
        </p:nvSpPr>
        <p:spPr>
          <a:xfrm>
            <a:off x="700430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hase 4 heading"/>
          <p:cNvSpPr txBox="1"/>
          <p:nvPr/>
        </p:nvSpPr>
        <p:spPr>
          <a:xfrm>
            <a:off x="7004304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 &amp; act</a:t>
            </a:r>
            <a:endParaRPr lang="en-US" sz="1600" dirty="0"/>
          </a:p>
        </p:txBody>
      </p:sp>
      <p:sp>
        <p:nvSpPr>
          <p:cNvPr id="22" name="Phase 4 detail"/>
          <p:cNvSpPr txBox="1"/>
          <p:nvPr/>
        </p:nvSpPr>
        <p:spPr>
          <a:xfrm>
            <a:off x="7004304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SHAP explanations, risk segments, retention recommendations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is the strongest churn signal</a:t>
            </a:r>
            <a:endParaRPr lang="en-US" sz="2800" dirty="0"/>
          </a:p>
        </p:txBody>
      </p:sp>
      <p:graphicFrame>
        <p:nvGraphicFramePr>
          <p:cNvPr id="3" name="Churn by contract chart" descr=""/>
          <p:cNvGraphicFramePr/>
          <p:nvPr/>
        </p:nvGraphicFramePr>
        <p:xfrm>
          <a:off x="365760" y="105156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DA highlights"/>
          <p:cNvSpPr txBox="1"/>
          <p:nvPr/>
        </p:nvSpPr>
        <p:spPr>
          <a:xfrm>
            <a:off x="5394960" y="1234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15x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more churn on month-to-month than two-year contracts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Fiber optic: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41.9% churn vs 19.0% for DSL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First year: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47% churn in months 0-12 vs 9.5% after four years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Electronic check: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45% churn vs 15-19% for other payment methods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tests confirm the patterns</a:t>
            </a:r>
            <a:endParaRPr lang="en-US" sz="2800" dirty="0"/>
          </a:p>
        </p:txBody>
      </p:sp>
      <p:sp>
        <p:nvSpPr>
          <p:cNvPr id="3" name="H1 card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1 badg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1 number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H1</a:t>
            </a:r>
            <a:endParaRPr lang="en-US" sz="1600" dirty="0"/>
          </a:p>
        </p:txBody>
      </p:sp>
      <p:sp>
        <p:nvSpPr>
          <p:cNvPr id="6" name="H1 claim"/>
          <p:cNvSpPr txBox="1"/>
          <p:nvPr/>
        </p:nvSpPr>
        <p:spPr>
          <a:xfrm>
            <a:off x="1325880" y="1353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Fiber users churn more than DSL</a:t>
            </a:r>
            <a:endParaRPr lang="en-US" sz="1500" dirty="0"/>
          </a:p>
        </p:txBody>
      </p:sp>
      <p:sp>
        <p:nvSpPr>
          <p:cNvPr id="7" name="H1 verdict"/>
          <p:cNvSpPr txBox="1"/>
          <p:nvPr/>
        </p:nvSpPr>
        <p:spPr>
          <a:xfrm>
            <a:off x="132588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</a:t>
            </a:r>
            <a:endParaRPr lang="en-US" sz="1300" dirty="0"/>
          </a:p>
        </p:txBody>
      </p:sp>
      <p:sp>
        <p:nvSpPr>
          <p:cNvPr id="8" name="H1 evidence"/>
          <p:cNvSpPr txBox="1"/>
          <p:nvPr/>
        </p:nvSpPr>
        <p:spPr>
          <a:xfrm>
            <a:off x="1325880" y="2029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41.9% vs 19.0%, 2.2x relative risk, p &lt; 0.001</a:t>
            </a:r>
            <a:endParaRPr lang="en-US" sz="1200" dirty="0"/>
          </a:p>
        </p:txBody>
      </p:sp>
      <p:sp>
        <p:nvSpPr>
          <p:cNvPr id="9" name="H2 card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2 badg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H2 number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H2</a:t>
            </a:r>
            <a:endParaRPr lang="en-US" sz="1600" dirty="0"/>
          </a:p>
        </p:txBody>
      </p:sp>
      <p:sp>
        <p:nvSpPr>
          <p:cNvPr id="12" name="H2 claim"/>
          <p:cNvSpPr txBox="1"/>
          <p:nvPr/>
        </p:nvSpPr>
        <p:spPr>
          <a:xfrm>
            <a:off x="5532120" y="1353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Having a partner reduces churn</a:t>
            </a:r>
            <a:endParaRPr lang="en-US" sz="1500" dirty="0"/>
          </a:p>
        </p:txBody>
      </p:sp>
      <p:sp>
        <p:nvSpPr>
          <p:cNvPr id="13" name="H2 verdict"/>
          <p:cNvSpPr txBox="1"/>
          <p:nvPr/>
        </p:nvSpPr>
        <p:spPr>
          <a:xfrm>
            <a:off x="553212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Supported*</a:t>
            </a:r>
            <a:endParaRPr lang="en-US" sz="1300" dirty="0"/>
          </a:p>
        </p:txBody>
      </p:sp>
      <p:sp>
        <p:nvSpPr>
          <p:cNvPr id="14" name="H2 evidence"/>
          <p:cNvSpPr txBox="1"/>
          <p:nvPr/>
        </p:nvSpPr>
        <p:spPr>
          <a:xfrm>
            <a:off x="5532120" y="2029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33.0% vs 19.7%, but SHAP later shows it is a proxy for tenure</a:t>
            </a:r>
            <a:endParaRPr lang="en-US" sz="1200" dirty="0"/>
          </a:p>
        </p:txBody>
      </p:sp>
      <p:sp>
        <p:nvSpPr>
          <p:cNvPr id="15" name="H3 card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3 badg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H3 number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H3</a:t>
            </a:r>
            <a:endParaRPr lang="en-US" sz="1600" dirty="0"/>
          </a:p>
        </p:txBody>
      </p:sp>
      <p:sp>
        <p:nvSpPr>
          <p:cNvPr id="18" name="H3 claim"/>
          <p:cNvSpPr txBox="1"/>
          <p:nvPr/>
        </p:nvSpPr>
        <p:spPr>
          <a:xfrm>
            <a:off x="1325880" y="3044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Month-to-month churns more</a:t>
            </a:r>
            <a:endParaRPr lang="en-US" sz="1500" dirty="0"/>
          </a:p>
        </p:txBody>
      </p:sp>
      <p:sp>
        <p:nvSpPr>
          <p:cNvPr id="19" name="H3 verdict"/>
          <p:cNvSpPr txBox="1"/>
          <p:nvPr/>
        </p:nvSpPr>
        <p:spPr>
          <a:xfrm>
            <a:off x="132588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</a:t>
            </a:r>
            <a:endParaRPr lang="en-US" sz="1300" dirty="0"/>
          </a:p>
        </p:txBody>
      </p:sp>
      <p:sp>
        <p:nvSpPr>
          <p:cNvPr id="20" name="H3 evidence"/>
          <p:cNvSpPr txBox="1"/>
          <p:nvPr/>
        </p:nvSpPr>
        <p:spPr>
          <a:xfrm>
            <a:off x="132588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Largest effect of all (Cramér's V = 0.41)</a:t>
            </a:r>
            <a:endParaRPr lang="en-US" sz="1200" dirty="0"/>
          </a:p>
        </p:txBody>
      </p:sp>
      <p:sp>
        <p:nvSpPr>
          <p:cNvPr id="21" name="Ctrl card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trl badge"/>
          <p:cNvSpPr/>
          <p:nvPr/>
        </p:nvSpPr>
        <p:spPr>
          <a:xfrm>
            <a:off x="4846320" y="30632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trl number"/>
          <p:cNvSpPr txBox="1"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Ctrl</a:t>
            </a:r>
            <a:endParaRPr lang="en-US" sz="1600" dirty="0"/>
          </a:p>
        </p:txBody>
      </p:sp>
      <p:sp>
        <p:nvSpPr>
          <p:cNvPr id="24" name="Ctrl claim"/>
          <p:cNvSpPr txBox="1"/>
          <p:nvPr/>
        </p:nvSpPr>
        <p:spPr>
          <a:xfrm>
            <a:off x="5532120" y="3044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Gender is unrelated to churn</a:t>
            </a:r>
            <a:endParaRPr lang="en-US" sz="1500" dirty="0"/>
          </a:p>
        </p:txBody>
      </p:sp>
      <p:sp>
        <p:nvSpPr>
          <p:cNvPr id="25" name="Ctrl verdict"/>
          <p:cNvSpPr txBox="1"/>
          <p:nvPr/>
        </p:nvSpPr>
        <p:spPr>
          <a:xfrm>
            <a:off x="55321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Not significant</a:t>
            </a:r>
            <a:endParaRPr lang="en-US" sz="1300" dirty="0"/>
          </a:p>
        </p:txBody>
      </p:sp>
      <p:sp>
        <p:nvSpPr>
          <p:cNvPr id="26" name="Ctrl evidence"/>
          <p:cNvSpPr txBox="1"/>
          <p:nvPr/>
        </p:nvSpPr>
        <p:spPr>
          <a:xfrm>
            <a:off x="553212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26.9% vs 26.2%, p = 0.49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engineered features</a:t>
            </a:r>
            <a:endParaRPr lang="en-US" sz="2800" dirty="0"/>
          </a:p>
        </p:txBody>
      </p:sp>
      <p:sp>
        <p:nvSpPr>
          <p:cNvPr id="3" name="TotalChargesPerTenure card"/>
          <p:cNvSpPr/>
          <p:nvPr/>
        </p:nvSpPr>
        <p:spPr>
          <a:xfrm>
            <a:off x="457200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talChargesPerTenure name"/>
          <p:cNvSpPr txBox="1"/>
          <p:nvPr/>
        </p:nvSpPr>
        <p:spPr>
          <a:xfrm>
            <a:off x="5943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TotalChargesPerTenure</a:t>
            </a:r>
            <a:endParaRPr lang="en-US" sz="1400" dirty="0"/>
          </a:p>
        </p:txBody>
      </p:sp>
      <p:sp>
        <p:nvSpPr>
          <p:cNvPr id="5" name="TotalChargesPerTenure description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spend per month of tenure</a:t>
            </a:r>
            <a:endParaRPr lang="en-US" sz="1200" dirty="0"/>
          </a:p>
        </p:txBody>
      </p:sp>
      <p:sp>
        <p:nvSpPr>
          <p:cNvPr id="6" name="ServiceCount card"/>
          <p:cNvSpPr/>
          <p:nvPr/>
        </p:nvSpPr>
        <p:spPr>
          <a:xfrm>
            <a:off x="3264408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erviceCount name"/>
          <p:cNvSpPr txBox="1"/>
          <p:nvPr/>
        </p:nvSpPr>
        <p:spPr>
          <a:xfrm>
            <a:off x="3401568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ServiceCount</a:t>
            </a:r>
            <a:endParaRPr lang="en-US" sz="1400" dirty="0"/>
          </a:p>
        </p:txBody>
      </p:sp>
      <p:sp>
        <p:nvSpPr>
          <p:cNvPr id="8" name="ServiceCount description"/>
          <p:cNvSpPr txBox="1"/>
          <p:nvPr/>
        </p:nvSpPr>
        <p:spPr>
          <a:xfrm>
            <a:off x="3401568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Number of add-on services (0-7)</a:t>
            </a:r>
            <a:endParaRPr lang="en-US" sz="1200" dirty="0"/>
          </a:p>
        </p:txBody>
      </p:sp>
      <p:sp>
        <p:nvSpPr>
          <p:cNvPr id="9" name="TenureGroup card"/>
          <p:cNvSpPr/>
          <p:nvPr/>
        </p:nvSpPr>
        <p:spPr>
          <a:xfrm>
            <a:off x="6071616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nureGroup name"/>
          <p:cNvSpPr txBox="1"/>
          <p:nvPr/>
        </p:nvSpPr>
        <p:spPr>
          <a:xfrm>
            <a:off x="6208776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TenureGroup</a:t>
            </a:r>
            <a:endParaRPr lang="en-US" sz="1400" dirty="0"/>
          </a:p>
        </p:txBody>
      </p:sp>
      <p:sp>
        <p:nvSpPr>
          <p:cNvPr id="11" name="TenureGroup description"/>
          <p:cNvSpPr txBox="1"/>
          <p:nvPr/>
        </p:nvSpPr>
        <p:spPr>
          <a:xfrm>
            <a:off x="6208776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0-12m / 13-24m / 25-48m / 49-72m buckets</a:t>
            </a:r>
            <a:endParaRPr lang="en-US" sz="1200" dirty="0"/>
          </a:p>
        </p:txBody>
      </p:sp>
      <p:sp>
        <p:nvSpPr>
          <p:cNvPr id="12" name="HasProtection card"/>
          <p:cNvSpPr/>
          <p:nvPr/>
        </p:nvSpPr>
        <p:spPr>
          <a:xfrm>
            <a:off x="457200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asProtection name"/>
          <p:cNvSpPr txBox="1"/>
          <p:nvPr/>
        </p:nvSpPr>
        <p:spPr>
          <a:xfrm>
            <a:off x="594360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HasProtection</a:t>
            </a:r>
            <a:endParaRPr lang="en-US" sz="1400" dirty="0"/>
          </a:p>
        </p:txBody>
      </p:sp>
      <p:sp>
        <p:nvSpPr>
          <p:cNvPr id="14" name="HasProtection description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Any security, backup, device or support service</a:t>
            </a:r>
            <a:endParaRPr lang="en-US" sz="1200" dirty="0"/>
          </a:p>
        </p:txBody>
      </p:sp>
      <p:sp>
        <p:nvSpPr>
          <p:cNvPr id="15" name="HasStreaming card"/>
          <p:cNvSpPr/>
          <p:nvPr/>
        </p:nvSpPr>
        <p:spPr>
          <a:xfrm>
            <a:off x="3264408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asStreaming name"/>
          <p:cNvSpPr txBox="1"/>
          <p:nvPr/>
        </p:nvSpPr>
        <p:spPr>
          <a:xfrm>
            <a:off x="3401568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HasStreaming</a:t>
            </a:r>
            <a:endParaRPr lang="en-US" sz="1400" dirty="0"/>
          </a:p>
        </p:txBody>
      </p:sp>
      <p:sp>
        <p:nvSpPr>
          <p:cNvPr id="17" name="HasStreaming description"/>
          <p:cNvSpPr txBox="1"/>
          <p:nvPr/>
        </p:nvSpPr>
        <p:spPr>
          <a:xfrm>
            <a:off x="3401568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Streaming TV or movies</a:t>
            </a:r>
            <a:endParaRPr lang="en-US" sz="1200" dirty="0"/>
          </a:p>
        </p:txBody>
      </p:sp>
      <p:sp>
        <p:nvSpPr>
          <p:cNvPr id="18" name="IsAutoPay card"/>
          <p:cNvSpPr/>
          <p:nvPr/>
        </p:nvSpPr>
        <p:spPr>
          <a:xfrm>
            <a:off x="6071616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sAutoPay name"/>
          <p:cNvSpPr txBox="1"/>
          <p:nvPr/>
        </p:nvSpPr>
        <p:spPr>
          <a:xfrm>
            <a:off x="6208776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IsAutoPay</a:t>
            </a:r>
            <a:endParaRPr lang="en-US" sz="1400" dirty="0"/>
          </a:p>
        </p:txBody>
      </p:sp>
      <p:sp>
        <p:nvSpPr>
          <p:cNvPr id="20" name="IsAutoPay description"/>
          <p:cNvSpPr txBox="1"/>
          <p:nvPr/>
        </p:nvSpPr>
        <p:spPr>
          <a:xfrm>
            <a:off x="6208776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Automatic bank or card payment</a:t>
            </a:r>
            <a:endParaRPr lang="en-US" sz="1200" dirty="0"/>
          </a:p>
        </p:txBody>
      </p:sp>
      <p:sp>
        <p:nvSpPr>
          <p:cNvPr id="21" name="Feature finding"/>
          <p:cNvSpPr txBox="1"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Honest finding: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TotalChargesPerTenure turned out to duplicate MonthlyCharges (r = 1.00), and the tree models learn the other features from raw columns. The features helped most in understanding the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tuning, every model reaches AUC ≈ 0.85</a:t>
            </a:r>
            <a:endParaRPr lang="en-US" sz="2800" dirty="0"/>
          </a:p>
        </p:txBody>
      </p:sp>
      <p:graphicFrame>
        <p:nvGraphicFramePr>
          <p:cNvPr id="3" name="Model comparison chart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uning takeaways"/>
          <p:cNvSpPr txBox="1"/>
          <p:nvPr/>
        </p:nvSpPr>
        <p:spPr>
          <a:xfrm>
            <a:off x="5715000" y="1234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Untuned boosters overfit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(train AUC ≈ 1.0) and lost to Logistic Regression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Tuning fixed overfitting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by choosing simpler models: the best XGBoost uses depth-2 trees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All models plateau at ≈ 0.85,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information ceiling of this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XGBoost generalises to unseen data</a:t>
            </a:r>
            <a:endParaRPr lang="en-US" sz="2800" dirty="0"/>
          </a:p>
        </p:txBody>
      </p:sp>
      <p:pic>
        <p:nvPicPr>
          <p:cNvPr id="3" name="ROC and PR curves" descr="Test-set ROC and precision-recall curves for the four tuned mod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5760720" cy="3520440"/>
          </a:xfrm>
          <a:prstGeom prst="rect">
            <a:avLst/>
          </a:prstGeom>
        </p:spPr>
      </p:pic>
      <p:sp>
        <p:nvSpPr>
          <p:cNvPr id="4" name="Test AUC card"/>
          <p:cNvSpPr/>
          <p:nvPr/>
        </p:nvSpPr>
        <p:spPr>
          <a:xfrm>
            <a:off x="6355080" y="109728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 AUC value"/>
          <p:cNvSpPr txBox="1"/>
          <p:nvPr/>
        </p:nvSpPr>
        <p:spPr>
          <a:xfrm>
            <a:off x="6492240" y="118872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2800" dirty="0"/>
          </a:p>
        </p:txBody>
      </p:sp>
      <p:sp>
        <p:nvSpPr>
          <p:cNvPr id="6" name="Test AUC label"/>
          <p:cNvSpPr txBox="1"/>
          <p:nvPr/>
        </p:nvSpPr>
        <p:spPr>
          <a:xfrm>
            <a:off x="6492240" y="175290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ROC-AUC (95% CI 0.824-0.867)</a:t>
            </a:r>
            <a:endParaRPr lang="en-US" sz="1200" dirty="0"/>
          </a:p>
        </p:txBody>
      </p:sp>
      <p:sp>
        <p:nvSpPr>
          <p:cNvPr id="7" name="CV AUC card"/>
          <p:cNvSpPr/>
          <p:nvPr/>
        </p:nvSpPr>
        <p:spPr>
          <a:xfrm>
            <a:off x="635508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V AUC value"/>
          <p:cNvSpPr txBox="1"/>
          <p:nvPr/>
        </p:nvSpPr>
        <p:spPr>
          <a:xfrm>
            <a:off x="6492240" y="237744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2800" dirty="0"/>
          </a:p>
        </p:txBody>
      </p:sp>
      <p:sp>
        <p:nvSpPr>
          <p:cNvPr id="9" name="CV AUC label"/>
          <p:cNvSpPr txBox="1"/>
          <p:nvPr/>
        </p:nvSpPr>
        <p:spPr>
          <a:xfrm>
            <a:off x="6492240" y="294162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cross-validated AUC, so no overfitting</a:t>
            </a:r>
            <a:endParaRPr lang="en-US" sz="1200" dirty="0"/>
          </a:p>
        </p:txBody>
      </p:sp>
      <p:sp>
        <p:nvSpPr>
          <p:cNvPr id="10" name="Test size card"/>
          <p:cNvSpPr/>
          <p:nvPr/>
        </p:nvSpPr>
        <p:spPr>
          <a:xfrm>
            <a:off x="6355080" y="3474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 size value"/>
          <p:cNvSpPr txBox="1"/>
          <p:nvPr/>
        </p:nvSpPr>
        <p:spPr>
          <a:xfrm>
            <a:off x="6492240" y="356616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1,409</a:t>
            </a:r>
            <a:endParaRPr lang="en-US" sz="2800" dirty="0"/>
          </a:p>
        </p:txBody>
      </p:sp>
      <p:sp>
        <p:nvSpPr>
          <p:cNvPr id="12" name="Test size label"/>
          <p:cNvSpPr txBox="1"/>
          <p:nvPr/>
        </p:nvSpPr>
        <p:spPr>
          <a:xfrm>
            <a:off x="6492240" y="413034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customers, used exactly once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by risk turns a loss into a profit</a:t>
            </a:r>
            <a:endParaRPr lang="en-US" sz="2800" dirty="0"/>
          </a:p>
        </p:txBody>
      </p:sp>
      <p:graphicFrame>
        <p:nvGraphicFramePr>
          <p:cNvPr id="3" name="Campaign value chart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call card"/>
          <p:cNvSpPr/>
          <p:nvPr/>
        </p:nvSpPr>
        <p:spPr>
          <a:xfrm>
            <a:off x="5760720" y="10972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all value"/>
          <p:cNvSpPr txBox="1"/>
          <p:nvPr/>
        </p:nvSpPr>
        <p:spPr>
          <a:xfrm>
            <a:off x="5897880" y="11887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000" dirty="0"/>
          </a:p>
        </p:txBody>
      </p:sp>
      <p:sp>
        <p:nvSpPr>
          <p:cNvPr id="6" name="Recall label"/>
          <p:cNvSpPr txBox="1"/>
          <p:nvPr/>
        </p:nvSpPr>
        <p:spPr>
          <a:xfrm>
            <a:off x="5897880" y="1779422"/>
            <a:ext cx="26517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churners reached while contacting only 30% of customers</a:t>
            </a:r>
            <a:endParaRPr lang="en-US" sz="1200" dirty="0"/>
          </a:p>
        </p:txBody>
      </p:sp>
      <p:sp>
        <p:nvSpPr>
          <p:cNvPr id="7" name="Lift card"/>
          <p:cNvSpPr/>
          <p:nvPr/>
        </p:nvSpPr>
        <p:spPr>
          <a:xfrm>
            <a:off x="5760720" y="233172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ft value"/>
          <p:cNvSpPr txBox="1"/>
          <p:nvPr/>
        </p:nvSpPr>
        <p:spPr>
          <a:xfrm>
            <a:off x="5897880" y="24231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2.2x</a:t>
            </a:r>
            <a:endParaRPr lang="en-US" sz="3000" dirty="0"/>
          </a:p>
        </p:txBody>
      </p:sp>
      <p:sp>
        <p:nvSpPr>
          <p:cNvPr id="9" name="Lift label"/>
          <p:cNvSpPr txBox="1"/>
          <p:nvPr/>
        </p:nvSpPr>
        <p:spPr>
          <a:xfrm>
            <a:off x="5897880" y="3013862"/>
            <a:ext cx="26517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more churners reached than random targeting</a:t>
            </a:r>
            <a:endParaRPr lang="en-US" sz="1200" dirty="0"/>
          </a:p>
        </p:txBody>
      </p:sp>
      <p:sp>
        <p:nvSpPr>
          <p:cNvPr id="10" name="Assumptions note"/>
          <p:cNvSpPr txBox="1"/>
          <p:nvPr/>
        </p:nvSpPr>
        <p:spPr>
          <a:xfrm>
            <a:off x="5760720" y="3566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Threshold 0.65 chosen to maximise value. Assumes a $100 offer, 30% save rate and 12 months of revenue per saved customer (illustrative).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Contract, not price, is the biggest churn driver</a:t>
            </a:r>
            <a:endParaRPr lang="en-US" sz="2800" dirty="0"/>
          </a:p>
        </p:txBody>
      </p:sp>
      <p:pic>
        <p:nvPicPr>
          <p:cNvPr id="3" name="SHAP importance chart" descr="SHAP global feature importance with one-hot columns group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480560" cy="3611880"/>
          </a:xfrm>
          <a:prstGeom prst="rect">
            <a:avLst/>
          </a:prstGeom>
        </p:spPr>
      </p:pic>
      <p:sp>
        <p:nvSpPr>
          <p:cNvPr id="4" name="Contract vs price card"/>
          <p:cNvSpPr/>
          <p:nvPr/>
        </p:nvSpPr>
        <p:spPr>
          <a:xfrm>
            <a:off x="5120640" y="109728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tract vs price value"/>
          <p:cNvSpPr txBox="1"/>
          <p:nvPr/>
        </p:nvSpPr>
        <p:spPr>
          <a:xfrm>
            <a:off x="5257800" y="11887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</a:t>
            </a:r>
            <a:endParaRPr lang="en-US" sz="3400" dirty="0"/>
          </a:p>
        </p:txBody>
      </p:sp>
      <p:sp>
        <p:nvSpPr>
          <p:cNvPr id="6" name="Contract vs price label"/>
          <p:cNvSpPr txBox="1"/>
          <p:nvPr/>
        </p:nvSpPr>
        <p:spPr>
          <a:xfrm>
            <a:off x="5257800" y="1832458"/>
            <a:ext cx="32918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Contract's SHAP impact vs MonthlyCharges (3.3x vs all price features)</a:t>
            </a:r>
            <a:endParaRPr lang="en-US" sz="1200" dirty="0"/>
          </a:p>
        </p:txBody>
      </p:sp>
      <p:sp>
        <p:nvSpPr>
          <p:cNvPr id="7" name="SHAP takeaways"/>
          <p:cNvSpPr txBox="1"/>
          <p:nvPr/>
        </p:nvSpPr>
        <p:spPr>
          <a:xfrm>
            <a:off x="5120640" y="2468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Month-to-month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multiplies churn odds by 1.6, while a two-year contract cuts them to 0.28x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Price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adds risk on bills above about $90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Partner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gets zero attribution: a proxy, not a cause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at risk: month-to-month fiber customers</a:t>
            </a:r>
            <a:endParaRPr lang="en-US" sz="2800" dirty="0"/>
          </a:p>
        </p:txBody>
      </p:sp>
      <p:graphicFrame>
        <p:nvGraphicFramePr>
          <p:cNvPr id="3" name="Risk profile chart" descr=""/>
          <p:cNvGraphicFramePr/>
          <p:nvPr/>
        </p:nvGraphicFramePr>
        <p:xfrm>
          <a:off x="365760" y="1051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lagged card"/>
          <p:cNvSpPr/>
          <p:nvPr/>
        </p:nvSpPr>
        <p:spPr>
          <a:xfrm>
            <a:off x="5943600" y="109728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agged value"/>
          <p:cNvSpPr txBox="1"/>
          <p:nvPr/>
        </p:nvSpPr>
        <p:spPr>
          <a:xfrm>
            <a:off x="6080760" y="1188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2,004</a:t>
            </a:r>
            <a:endParaRPr lang="en-US" sz="3000" dirty="0"/>
          </a:p>
        </p:txBody>
      </p:sp>
      <p:sp>
        <p:nvSpPr>
          <p:cNvPr id="6" name="Flagged label"/>
          <p:cNvSpPr txBox="1"/>
          <p:nvPr/>
        </p:nvSpPr>
        <p:spPr>
          <a:xfrm>
            <a:off x="6080760" y="1779422"/>
            <a:ext cx="24688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flagged (28.5% of the base)</a:t>
            </a:r>
            <a:endParaRPr lang="en-US" sz="1200" dirty="0"/>
          </a:p>
        </p:txBody>
      </p:sp>
      <p:sp>
        <p:nvSpPr>
          <p:cNvPr id="7" name="Fiber share card"/>
          <p:cNvSpPr/>
          <p:nvPr/>
        </p:nvSpPr>
        <p:spPr>
          <a:xfrm>
            <a:off x="5943600" y="233172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ber share value"/>
          <p:cNvSpPr txBox="1"/>
          <p:nvPr/>
        </p:nvSpPr>
        <p:spPr>
          <a:xfrm>
            <a:off x="6080760" y="24231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000" dirty="0"/>
          </a:p>
        </p:txBody>
      </p:sp>
      <p:sp>
        <p:nvSpPr>
          <p:cNvPr id="9" name="Fiber share label"/>
          <p:cNvSpPr txBox="1"/>
          <p:nvPr/>
        </p:nvSpPr>
        <p:spPr>
          <a:xfrm>
            <a:off x="6080760" y="3013862"/>
            <a:ext cx="24688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them are month-to-month fiber customers</a:t>
            </a:r>
            <a:endParaRPr lang="en-US" sz="1200" dirty="0"/>
          </a:p>
        </p:txBody>
      </p:sp>
      <p:sp>
        <p:nvSpPr>
          <p:cNvPr id="10" name="Revenue card"/>
          <p:cNvSpPr/>
          <p:nvPr/>
        </p:nvSpPr>
        <p:spPr>
          <a:xfrm>
            <a:off x="5943600" y="356616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venue value"/>
          <p:cNvSpPr txBox="1"/>
          <p:nvPr/>
        </p:nvSpPr>
        <p:spPr>
          <a:xfrm>
            <a:off x="6080760" y="3657600"/>
            <a:ext cx="2468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$1.9M</a:t>
            </a:r>
            <a:endParaRPr lang="en-US" sz="3000" dirty="0"/>
          </a:p>
        </p:txBody>
      </p:sp>
      <p:sp>
        <p:nvSpPr>
          <p:cNvPr id="12" name="Revenue label"/>
          <p:cNvSpPr txBox="1"/>
          <p:nvPr/>
        </p:nvSpPr>
        <p:spPr>
          <a:xfrm>
            <a:off x="6080760" y="4221785"/>
            <a:ext cx="2468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annual revenue in the flagged group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De-risked header"/>
          <p:cNvSpPr txBox="1"/>
          <p:nvPr/>
        </p:nvSpPr>
        <p:spPr>
          <a:xfrm>
            <a:off x="749808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De-risked*</a:t>
            </a:r>
            <a:endParaRPr lang="en-US" sz="1100" dirty="0"/>
          </a:p>
        </p:txBody>
      </p:sp>
      <p:sp>
        <p:nvSpPr>
          <p:cNvPr id="4" name="Rec 1 card"/>
          <p:cNvSpPr/>
          <p:nvPr/>
        </p:nvSpPr>
        <p:spPr>
          <a:xfrm>
            <a:off x="457200" y="1280160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 1 badge"/>
          <p:cNvSpPr/>
          <p:nvPr/>
        </p:nvSpPr>
        <p:spPr>
          <a:xfrm>
            <a:off x="594360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Rec 1 number"/>
          <p:cNvSpPr txBox="1"/>
          <p:nvPr/>
        </p:nvSpPr>
        <p:spPr>
          <a:xfrm>
            <a:off x="59436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Rec 1 heading"/>
          <p:cNvSpPr txBox="1"/>
          <p:nvPr/>
        </p:nvSpPr>
        <p:spPr>
          <a:xfrm>
            <a:off x="1234440" y="1353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Contract-conversion offer</a:t>
            </a:r>
            <a:endParaRPr lang="en-US" sz="1500" dirty="0"/>
          </a:p>
        </p:txBody>
      </p:sp>
      <p:sp>
        <p:nvSpPr>
          <p:cNvPr id="8" name="Rec 1 detail"/>
          <p:cNvSpPr txBox="1"/>
          <p:nvPr/>
        </p:nvSpPr>
        <p:spPr>
          <a:xfrm>
            <a:off x="1234440" y="1645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Discounted 1-year contract for flagged month-to-month customers, fiber first</a:t>
            </a:r>
            <a:endParaRPr lang="en-US" sz="1200" dirty="0"/>
          </a:p>
        </p:txBody>
      </p:sp>
      <p:sp>
        <p:nvSpPr>
          <p:cNvPr id="9" name="Rec 1 impact"/>
          <p:cNvSpPr txBox="1"/>
          <p:nvPr/>
        </p:nvSpPr>
        <p:spPr>
          <a:xfrm>
            <a:off x="7498080" y="1280160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2200" dirty="0"/>
          </a:p>
        </p:txBody>
      </p:sp>
      <p:sp>
        <p:nvSpPr>
          <p:cNvPr id="10" name="Rec 2 card"/>
          <p:cNvSpPr/>
          <p:nvPr/>
        </p:nvSpPr>
        <p:spPr>
          <a:xfrm>
            <a:off x="457200" y="2084832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c 2 badge"/>
          <p:cNvSpPr/>
          <p:nvPr/>
        </p:nvSpPr>
        <p:spPr>
          <a:xfrm>
            <a:off x="594360" y="22037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ec 2 number"/>
          <p:cNvSpPr txBox="1"/>
          <p:nvPr/>
        </p:nvSpPr>
        <p:spPr>
          <a:xfrm>
            <a:off x="59436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Rec 2 heading"/>
          <p:cNvSpPr txBox="1"/>
          <p:nvPr/>
        </p:nvSpPr>
        <p:spPr>
          <a:xfrm>
            <a:off x="1234440" y="21579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Fiber protection bundle</a:t>
            </a:r>
            <a:endParaRPr lang="en-US" sz="1500" dirty="0"/>
          </a:p>
        </p:txBody>
      </p:sp>
      <p:sp>
        <p:nvSpPr>
          <p:cNvPr id="14" name="Rec 2 detail"/>
          <p:cNvSpPr txBox="1"/>
          <p:nvPr/>
        </p:nvSpPr>
        <p:spPr>
          <a:xfrm>
            <a:off x="1234440" y="24505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Online Security + Tech Support free for 6 months</a:t>
            </a:r>
            <a:endParaRPr lang="en-US" sz="1200" dirty="0"/>
          </a:p>
        </p:txBody>
      </p:sp>
      <p:sp>
        <p:nvSpPr>
          <p:cNvPr id="15" name="Rec 2 impact"/>
          <p:cNvSpPr txBox="1"/>
          <p:nvPr/>
        </p:nvSpPr>
        <p:spPr>
          <a:xfrm>
            <a:off x="7498080" y="20848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2200" dirty="0"/>
          </a:p>
        </p:txBody>
      </p:sp>
      <p:sp>
        <p:nvSpPr>
          <p:cNvPr id="16" name="Rec 3 card"/>
          <p:cNvSpPr/>
          <p:nvPr/>
        </p:nvSpPr>
        <p:spPr>
          <a:xfrm>
            <a:off x="457200" y="2889504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c 3 badge"/>
          <p:cNvSpPr/>
          <p:nvPr/>
        </p:nvSpPr>
        <p:spPr>
          <a:xfrm>
            <a:off x="594360" y="30083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ec 3 number"/>
          <p:cNvSpPr txBox="1"/>
          <p:nvPr/>
        </p:nvSpPr>
        <p:spPr>
          <a:xfrm>
            <a:off x="5943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Rec 3 heading"/>
          <p:cNvSpPr txBox="1"/>
          <p:nvPr/>
        </p:nvSpPr>
        <p:spPr>
          <a:xfrm>
            <a:off x="1234440" y="296265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Auto-pay incentive</a:t>
            </a:r>
            <a:endParaRPr lang="en-US" sz="1500" dirty="0"/>
          </a:p>
        </p:txBody>
      </p:sp>
      <p:sp>
        <p:nvSpPr>
          <p:cNvPr id="20" name="Rec 3 detail"/>
          <p:cNvSpPr txBox="1"/>
          <p:nvPr/>
        </p:nvSpPr>
        <p:spPr>
          <a:xfrm>
            <a:off x="1234440" y="32552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Small credit for switching from electronic check</a:t>
            </a:r>
            <a:endParaRPr lang="en-US" sz="1200" dirty="0"/>
          </a:p>
        </p:txBody>
      </p:sp>
      <p:sp>
        <p:nvSpPr>
          <p:cNvPr id="21" name="Rec 3 impact"/>
          <p:cNvSpPr txBox="1"/>
          <p:nvPr/>
        </p:nvSpPr>
        <p:spPr>
          <a:xfrm>
            <a:off x="7498080" y="2889504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2200" dirty="0"/>
          </a:p>
        </p:txBody>
      </p:sp>
      <p:sp>
        <p:nvSpPr>
          <p:cNvPr id="22" name="Rec 4 card"/>
          <p:cNvSpPr/>
          <p:nvPr/>
        </p:nvSpPr>
        <p:spPr>
          <a:xfrm>
            <a:off x="457200" y="3694176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ec 4 badge"/>
          <p:cNvSpPr/>
          <p:nvPr/>
        </p:nvSpPr>
        <p:spPr>
          <a:xfrm>
            <a:off x="594360" y="3813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Rec 4 number"/>
          <p:cNvSpPr txBox="1"/>
          <p:nvPr/>
        </p:nvSpPr>
        <p:spPr>
          <a:xfrm>
            <a:off x="5943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Rec 4 heading"/>
          <p:cNvSpPr txBox="1"/>
          <p:nvPr/>
        </p:nvSpPr>
        <p:spPr>
          <a:xfrm>
            <a:off x="1234440" y="3767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First-year onboarding</a:t>
            </a:r>
            <a:endParaRPr lang="en-US" sz="1500" dirty="0"/>
          </a:p>
        </p:txBody>
      </p:sp>
      <p:sp>
        <p:nvSpPr>
          <p:cNvPr id="26" name="Rec 4 detail"/>
          <p:cNvSpPr txBox="1"/>
          <p:nvPr/>
        </p:nvSpPr>
        <p:spPr>
          <a:xfrm>
            <a:off x="1234440" y="40599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Check-ins at months 1, 3 and 6 for new customers</a:t>
            </a:r>
            <a:endParaRPr lang="en-US" sz="1200" dirty="0"/>
          </a:p>
        </p:txBody>
      </p:sp>
      <p:sp>
        <p:nvSpPr>
          <p:cNvPr id="27" name="Rec 4 impact"/>
          <p:cNvSpPr txBox="1"/>
          <p:nvPr/>
        </p:nvSpPr>
        <p:spPr>
          <a:xfrm>
            <a:off x="7498080" y="3694176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endParaRPr lang="en-US" sz="2200" dirty="0"/>
          </a:p>
        </p:txBody>
      </p:sp>
      <p:sp>
        <p:nvSpPr>
          <p:cNvPr id="28" name="Footnot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*Share of high-risk test customers the model no longer flags after the change. Model-based estimate, to be confirmed with an A/B test.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8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548640" y="27889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XGBoost flags at-risk customers with AUC 0.85 and explains every score with SHAP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Lock in month-to-month fiber customers with longer contracts and protection bundles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Next: A/B-test the offers, add usage and support data, and score customers monthly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nectTel Churn">
  <a:themeElements>
    <a:clrScheme name="ConnectTel Churn">
      <a:dk1>
        <a:srgbClr val="1B2430"/>
      </a:dk1>
      <a:lt1>
        <a:srgbClr val="FFFFFF"/>
      </a:lt1>
      <a:dk2>
        <a:srgbClr val="0F2742"/>
      </a:dk2>
      <a:lt2>
        <a:srgbClr val="EEF3F7"/>
      </a:lt2>
      <a:accent1>
        <a:srgbClr val="0E9F9A"/>
      </a:accent1>
      <a:accent2>
        <a:srgbClr val="E4572E"/>
      </a:accent2>
      <a:accent3>
        <a:srgbClr val="F2A541"/>
      </a:accent3>
      <a:accent4>
        <a:srgbClr val="5B7C99"/>
      </a:accent4>
      <a:accent5>
        <a:srgbClr val="9BB7D4"/>
      </a:accent5>
      <a:accent6>
        <a:srgbClr val="2E7D32"/>
      </a:accent6>
      <a:hlink>
        <a:srgbClr val="0E9F9A"/>
      </a:hlink>
      <a:folHlink>
        <a:srgbClr val="5B7C99"/>
      </a:folHlink>
    </a:clrScheme>
    <a:fontScheme name="ConnectTel Chur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ConnectTel: Predictive Customer Churn Model</dc:title>
  <dc:subject>PptxGenJS Presentation</dc:subject>
  <dc:creator>Tejas Waghere</dc:creator>
  <cp:lastModifiedBy>Tejas Waghere</cp:lastModifiedBy>
  <cp:revision>1</cp:revision>
  <dcterms:created xsi:type="dcterms:W3CDTF">2026-10-14T12:27:11Z</dcterms:created>
  <dcterms:modified xsi:type="dcterms:W3CDTF">2026-10-14T12:27:11Z</dcterms:modified>
</cp:coreProperties>
</file>