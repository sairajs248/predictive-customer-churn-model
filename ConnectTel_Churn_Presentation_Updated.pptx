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4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DDFA5729-0CF2-25A1-B987-4C0EF05BBC00}">
          <p14:sldIdLst>
            <p14:sldId id="256"/>
            <p14:sldId id="257"/>
            <p14:sldId id="258"/>
          </p14:sldIdLst>
        </p14:section>
        <p14:section name="Findings" id="{5481221F-B892-F3EA-73A9-1FDC4AC9AAF9}">
          <p14:sldIdLst>
            <p14:sldId id="259"/>
            <p14:sldId id="260"/>
            <p14:sldId id="261"/>
          </p14:sldIdLst>
        </p14:section>
        <p14:section name="Models" id="{C990E12E-E7DC-DC2A-41AE-BA14CB30F3C2}">
          <p14:sldIdLst>
            <p14:sldId id="262"/>
            <p14:sldId id="263"/>
            <p14:sldId id="264"/>
          </p14:sldIdLst>
        </p14:section>
        <p14:section name="Explainability" id="{59D83F0B-9279-5F9D-73D4-19A888E03FCA}">
          <p14:sldIdLst>
            <p14:sldId id="265"/>
            <p14:sldId id="266"/>
          </p14:sldIdLst>
        </p14:section>
        <p14:section name="Recommendations" id="{EB4AD3F5-EE87-8FE6-EB4E-5366EECC539F}">
          <p14:sldIdLst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4" d="100"/>
          <a:sy n="154" d="100"/>
        </p:scale>
        <p:origin x="38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2742"/>
                </a:solidFill>
                <a:latin typeface="+mn-lt"/>
              </a:defRPr>
            </a:pPr>
            <a:r>
              <a:rPr lang="en-US" sz="1300" b="0" i="0" u="none" strike="noStrike">
                <a:solidFill>
                  <a:srgbClr val="0F2742"/>
                </a:solidFill>
                <a:latin typeface="+mn-lt"/>
              </a:rPr>
              <a:t>Churn rate by contract type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  <c:spPr>
              <a:solidFill>
                <a:srgbClr val="F2A54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E9F9A"/>
              </a:solidFill>
              <a:effectLst/>
            </c:spPr>
          </c:dPt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2430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Month-to-month</c:v>
                </c:pt>
                <c:pt idx="1">
                  <c:v>One year</c:v>
                </c:pt>
                <c:pt idx="2">
                  <c:v>Two year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0.42699999999999999</c:v>
                </c:pt>
                <c:pt idx="1">
                  <c:v>0.113</c:v>
                </c:pt>
                <c:pt idx="2">
                  <c:v>2.8000000000000001E-2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95078288"/>
        <c:axId val="495078680"/>
      </c:barChart>
      <c:catAx>
        <c:axId val="4950782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30"/>
                </a:solidFill>
                <a:latin typeface="+mn-lt"/>
              </a:defRPr>
            </a:pPr>
            <a:endParaRPr lang="en-US"/>
          </a:p>
        </c:txPr>
        <c:crossAx val="495078680"/>
        <c:crosses val="autoZero"/>
        <c:auto val="1"/>
        <c:lblAlgn val="ctr"/>
        <c:lblOffset val="100"/>
        <c:noMultiLvlLbl val="1"/>
      </c:catAx>
      <c:valAx>
        <c:axId val="495078680"/>
        <c:scaling>
          <c:orientation val="minMax"/>
          <c:max val="0.5"/>
        </c:scaling>
        <c:delete val="0"/>
        <c:axPos val="l"/>
        <c:majorGridlines>
          <c:spPr>
            <a:ln w="6350" cap="flat">
              <a:solidFill>
                <a:srgbClr val="D9E1E8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7C99"/>
                </a:solidFill>
                <a:latin typeface="+mn-lt"/>
              </a:defRPr>
            </a:pPr>
            <a:endParaRPr lang="en-US"/>
          </a:p>
        </c:txPr>
        <c:crossAx val="4950782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2742"/>
                </a:solidFill>
                <a:latin typeface="+mn-lt"/>
              </a:defRPr>
            </a:pPr>
            <a:r>
              <a:rPr lang="en-IN" sz="1300" b="0" i="0" u="none" strike="noStrike">
                <a:solidFill>
                  <a:srgbClr val="0F2742"/>
                </a:solidFill>
                <a:latin typeface="+mn-lt"/>
              </a:rPr>
              <a:t>Cross-validated ROC-AUC (5 folds)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Default / baseline</c:v>
                </c:pt>
              </c:strCache>
            </c:strRef>
          </c:tx>
          <c:spPr>
            <a:solidFill>
              <a:srgbClr val="9BB7D4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430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Logistic Reg.</c:v>
                </c:pt>
                <c:pt idx="1">
                  <c:v>Random Forest</c:v>
                </c:pt>
                <c:pt idx="2">
                  <c:v>XGBoost</c:v>
                </c:pt>
                <c:pt idx="3">
                  <c:v>LightGBM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0.84599999999999997</c:v>
                </c:pt>
                <c:pt idx="1">
                  <c:v>0.82699999999999996</c:v>
                </c:pt>
                <c:pt idx="2">
                  <c:v>0.82399999999999995</c:v>
                </c:pt>
                <c:pt idx="3">
                  <c:v>0.83799999999999997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Tuned (GridSearchCV)</c:v>
                </c:pt>
              </c:strCache>
            </c:strRef>
          </c:tx>
          <c:spPr>
            <a:solidFill>
              <a:srgbClr val="0E9F9A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430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Logistic Reg.</c:v>
                </c:pt>
                <c:pt idx="1">
                  <c:v>Random Forest</c:v>
                </c:pt>
                <c:pt idx="2">
                  <c:v>XGBoost</c:v>
                </c:pt>
                <c:pt idx="3">
                  <c:v>LightGBM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0.84599999999999997</c:v>
                </c:pt>
                <c:pt idx="1">
                  <c:v>0.84799999999999998</c:v>
                </c:pt>
                <c:pt idx="2">
                  <c:v>0.85</c:v>
                </c:pt>
                <c:pt idx="3">
                  <c:v>0.84899999999999998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95081816"/>
        <c:axId val="495075544"/>
      </c:barChart>
      <c:catAx>
        <c:axId val="49508181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30"/>
                </a:solidFill>
                <a:latin typeface="+mn-lt"/>
              </a:defRPr>
            </a:pPr>
            <a:endParaRPr lang="en-US"/>
          </a:p>
        </c:txPr>
        <c:crossAx val="495075544"/>
        <c:crosses val="autoZero"/>
        <c:auto val="1"/>
        <c:lblAlgn val="ctr"/>
        <c:lblOffset val="100"/>
        <c:noMultiLvlLbl val="1"/>
      </c:catAx>
      <c:valAx>
        <c:axId val="495075544"/>
        <c:scaling>
          <c:orientation val="minMax"/>
          <c:max val="0.86"/>
          <c:min val="0.8"/>
        </c:scaling>
        <c:delete val="0"/>
        <c:axPos val="l"/>
        <c:majorGridlines>
          <c:spPr>
            <a:ln w="6350" cap="flat">
              <a:solidFill>
                <a:srgbClr val="D9E1E8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7C99"/>
                </a:solidFill>
                <a:latin typeface="+mn-lt"/>
              </a:defRPr>
            </a:pPr>
            <a:endParaRPr lang="en-US"/>
          </a:p>
        </c:txPr>
        <c:crossAx val="495081816"/>
        <c:crosses val="autoZero"/>
        <c:crossBetween val="between"/>
        <c:majorUnit val="0.02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2742"/>
                </a:solidFill>
                <a:latin typeface="+mn-lt"/>
              </a:defRPr>
            </a:pPr>
            <a:r>
              <a:rPr lang="en-US" sz="1300" b="0" i="0" u="none" strike="noStrike">
                <a:solidFill>
                  <a:srgbClr val="0F2742"/>
                </a:solidFill>
                <a:latin typeface="+mn-lt"/>
              </a:rPr>
              <a:t>Net value on the 1,409 test customers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campaign value ($)</c:v>
                </c:pt>
              </c:strCache>
            </c:strRef>
          </c:tx>
          <c:spPr>
            <a:solidFill>
              <a:srgbClr val="0E9F9A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4572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4572E"/>
              </a:solidFill>
              <a:effectLst/>
            </c:spPr>
          </c:dPt>
          <c:dPt>
            <c:idx val="2"/>
            <c:invertIfNegative val="0"/>
            <c:bubble3D val="0"/>
          </c:dPt>
          <c:dLbls>
            <c:numFmt formatCode="\$#,##0;\-\$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2430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Contact everyone</c:v>
                </c:pt>
                <c:pt idx="1">
                  <c:v>Random (same budget)</c:v>
                </c:pt>
                <c:pt idx="2">
                  <c:v>Model-targeted (≥ 0.65)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-42926</c:v>
                </c:pt>
                <c:pt idx="1">
                  <c:v>-12674</c:v>
                </c:pt>
                <c:pt idx="2">
                  <c:v>26344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95079072"/>
        <c:axId val="495074368"/>
      </c:barChart>
      <c:catAx>
        <c:axId val="49507907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30"/>
                </a:solidFill>
                <a:latin typeface="+mn-lt"/>
              </a:defRPr>
            </a:pPr>
            <a:endParaRPr lang="en-US"/>
          </a:p>
        </c:txPr>
        <c:crossAx val="495074368"/>
        <c:crosses val="autoZero"/>
        <c:auto val="1"/>
        <c:lblAlgn val="ctr"/>
        <c:lblOffset val="100"/>
        <c:noMultiLvlLbl val="1"/>
      </c:catAx>
      <c:valAx>
        <c:axId val="495074368"/>
        <c:scaling>
          <c:orientation val="minMax"/>
          <c:max val="40000"/>
          <c:min val="-80000"/>
        </c:scaling>
        <c:delete val="0"/>
        <c:axPos val="b"/>
        <c:majorGridlines>
          <c:spPr>
            <a:ln w="6350" cap="flat">
              <a:solidFill>
                <a:srgbClr val="D9E1E8"/>
              </a:solidFill>
              <a:prstDash val="solid"/>
              <a:round/>
            </a:ln>
          </c:spPr>
        </c:majorGridlines>
        <c:numFmt formatCode="\$#,##0,&quot;k&quot;;\-\$#,##0,&quot;k&quot;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7C99"/>
                </a:solidFill>
                <a:latin typeface="+mn-lt"/>
              </a:defRPr>
            </a:pPr>
            <a:endParaRPr lang="en-US"/>
          </a:p>
        </c:txPr>
        <c:crossAx val="495079072"/>
        <c:crosses val="autoZero"/>
        <c:crossBetween val="between"/>
        <c:majorUnit val="2000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2742"/>
                </a:solidFill>
                <a:latin typeface="+mn-lt"/>
              </a:defRPr>
            </a:pPr>
            <a:r>
              <a:rPr lang="en-US" sz="1300" b="0" i="0" u="none" strike="noStrike">
                <a:solidFill>
                  <a:srgbClr val="0F2742"/>
                </a:solidFill>
                <a:latin typeface="+mn-lt"/>
              </a:rPr>
              <a:t>Share of customers with each trait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All customers</c:v>
                </c:pt>
              </c:strCache>
            </c:strRef>
          </c:tx>
          <c:spPr>
            <a:solidFill>
              <a:srgbClr val="9BB7D4"/>
            </a:solidFill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430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Month-to-month</c:v>
                </c:pt>
                <c:pt idx="1">
                  <c:v>No online security</c:v>
                </c:pt>
                <c:pt idx="2">
                  <c:v>Fiber optic</c:v>
                </c:pt>
                <c:pt idx="3">
                  <c:v>Electronic check</c:v>
                </c:pt>
                <c:pt idx="4">
                  <c:v>Tenure ≤ 12 months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0.55000000000000004</c:v>
                </c:pt>
                <c:pt idx="1">
                  <c:v>0.5</c:v>
                </c:pt>
                <c:pt idx="2">
                  <c:v>0.44</c:v>
                </c:pt>
                <c:pt idx="3">
                  <c:v>0.34</c:v>
                </c:pt>
                <c:pt idx="4">
                  <c:v>0.31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Flagged high-risk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430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Month-to-month</c:v>
                </c:pt>
                <c:pt idx="1">
                  <c:v>No online security</c:v>
                </c:pt>
                <c:pt idx="2">
                  <c:v>Fiber optic</c:v>
                </c:pt>
                <c:pt idx="3">
                  <c:v>Electronic check</c:v>
                </c:pt>
                <c:pt idx="4">
                  <c:v>Tenure ≤ 12 months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</c:v>
                </c:pt>
                <c:pt idx="1">
                  <c:v>0.91</c:v>
                </c:pt>
                <c:pt idx="2">
                  <c:v>0.82</c:v>
                </c:pt>
                <c:pt idx="3">
                  <c:v>0.69</c:v>
                </c:pt>
                <c:pt idx="4">
                  <c:v>0.63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353432768"/>
        <c:axId val="314618048"/>
      </c:barChart>
      <c:catAx>
        <c:axId val="353432768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30"/>
                </a:solidFill>
                <a:latin typeface="+mn-lt"/>
              </a:defRPr>
            </a:pPr>
            <a:endParaRPr lang="en-US"/>
          </a:p>
        </c:txPr>
        <c:crossAx val="314618048"/>
        <c:crosses val="autoZero"/>
        <c:auto val="1"/>
        <c:lblAlgn val="ctr"/>
        <c:lblOffset val="100"/>
        <c:noMultiLvlLbl val="1"/>
      </c:catAx>
      <c:valAx>
        <c:axId val="314618048"/>
        <c:scaling>
          <c:orientation val="minMax"/>
          <c:max val="1.1499999999999999"/>
          <c:min val="0"/>
        </c:scaling>
        <c:delete val="1"/>
        <c:axPos val="t"/>
        <c:majorGridlines>
          <c:spPr>
            <a:ln w="6350" cap="flat">
              <a:solidFill>
                <a:srgbClr val="D9E1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crossAx val="3534327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2016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ConnectTel is losing revenue to churn. The goal was a model that flags at-risk customers early, explains why, and turns that into a retention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Acquiring a customer costs more than keeping one. With only about a quarter of customers churning, accuracy is misleading, so the project optimises ranking quality (ROC-AUC) and looks at precision and recall.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project followed the brief's four-week plan. Preprocessing lives inside a scikit-learn Pipeline so cross-validation never leaks information, and the test set was used exactly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Exploratory analysis found contract length, internet type, tenure and payment method all strongly linked to churn. The highest-risk combination is month-to-month fiber customers, who churn at about 55%.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Chi-square tests with Cramér's V for effect size. Gender is a control that should not be significant, and it is not. The partner effect is real as a raw association, but disappears in the model once tenure and contract are known.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brief asked for at least three engineered features; six were built. One honest result: the ratio feature is almost identical to MonthlyCharges in this dataset, which was checked and documented.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194 hyperparameter combinations times 5 folds. XGBoost was selected on cross-validated AUC, not on the test set, to keep the test result honest.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three tree models are statistically tied on the test set. The boosted models keep higher precision among the very highest-risk customers, which matters for a budget-limited campaign.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decision threshold was chosen on out-of-fold training predictions to maximise campaign value, then applied unchanged to the test set. The cost assumptions are illustrative and can be replaced with real figures.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SHAP answers the brief's key question directly. Contract type has about seven times the impact of the monthly charge. A blanket price cut would address the smaller problem; longer contracts address the bigger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customer was scored without leakage: out-of-fold scores for training customers, test scores for test customers. The flagged group is highly concentrated, which makes the retention strategy simple to target.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Contract conversion is by far the strongest lever. Also recommended: investigate the fiber product itself, since fiber churns more even after controlling for price, and avoid blanket price cuts.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Summarise: the model works, the drivers are clear, and the recommendations are actionable. Main limitation: the lever estimates are model-based and need an experiment to confirm.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325880"/>
            <a:ext cx="804672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3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74320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800" dirty="0">
                <a:solidFill>
                  <a:schemeClr val="accent5"/>
                </a:solidFill>
              </a:defRPr>
            </a:lvl1pPr>
          </a:lstStyle>
          <a:p>
            <a:pPr marL="0" indent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ConnectTel · Predictive Customer Churn Model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7C9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7C9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32588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Customer Churn at ConnectTel</a:t>
            </a:r>
            <a:endParaRPr lang="en-US" sz="3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7432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5"/>
                </a:solidFill>
              </a:rPr>
              <a:t>An end-to-end machine learning pipeline: data exploration → models → explainability → retention strategy</a:t>
            </a:r>
            <a:endParaRPr lang="en-US" sz="1800" dirty="0"/>
          </a:p>
        </p:txBody>
      </p:sp>
      <p:sp>
        <p:nvSpPr>
          <p:cNvPr id="4" name="Presenter"/>
          <p:cNvSpPr txBox="1"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Machine Learning Engineering Internship Project  ·  </a:t>
            </a:r>
            <a:r>
              <a:rPr lang="en-US" sz="1400" dirty="0" err="1" smtClean="0">
                <a:solidFill>
                  <a:schemeClr val="bg1"/>
                </a:solidFill>
              </a:rPr>
              <a:t>Sairaj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smtClean="0">
                <a:solidFill>
                  <a:schemeClr val="bg1"/>
                </a:solidFill>
              </a:rPr>
              <a:t>Salunke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1 in 4 customers is leaving</a:t>
            </a:r>
            <a:endParaRPr lang="en-US" sz="2800" dirty="0"/>
          </a:p>
        </p:txBody>
      </p:sp>
      <p:sp>
        <p:nvSpPr>
          <p:cNvPr id="3" name="Customers card"/>
          <p:cNvSpPr/>
          <p:nvPr/>
        </p:nvSpPr>
        <p:spPr>
          <a:xfrm>
            <a:off x="457200" y="1188720"/>
            <a:ext cx="256032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ustomers value"/>
          <p:cNvSpPr txBox="1"/>
          <p:nvPr/>
        </p:nvSpPr>
        <p:spPr>
          <a:xfrm>
            <a:off x="594360" y="1280160"/>
            <a:ext cx="228600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7,043</a:t>
            </a:r>
            <a:endParaRPr lang="en-US" sz="3400" dirty="0"/>
          </a:p>
        </p:txBody>
      </p:sp>
      <p:sp>
        <p:nvSpPr>
          <p:cNvPr id="5" name="Customers label"/>
          <p:cNvSpPr txBox="1"/>
          <p:nvPr/>
        </p:nvSpPr>
        <p:spPr>
          <a:xfrm>
            <a:off x="594360" y="2056486"/>
            <a:ext cx="2286000" cy="458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customers in the IBM Telco dataset</a:t>
            </a:r>
            <a:endParaRPr lang="en-US" sz="1200" dirty="0"/>
          </a:p>
        </p:txBody>
      </p:sp>
      <p:sp>
        <p:nvSpPr>
          <p:cNvPr id="6" name="Churn rate card"/>
          <p:cNvSpPr/>
          <p:nvPr/>
        </p:nvSpPr>
        <p:spPr>
          <a:xfrm>
            <a:off x="3291840" y="1188720"/>
            <a:ext cx="256032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Churn rate value"/>
          <p:cNvSpPr txBox="1"/>
          <p:nvPr/>
        </p:nvSpPr>
        <p:spPr>
          <a:xfrm>
            <a:off x="3429000" y="1280160"/>
            <a:ext cx="228600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26.5%</a:t>
            </a:r>
            <a:endParaRPr lang="en-US" sz="3400" dirty="0"/>
          </a:p>
        </p:txBody>
      </p:sp>
      <p:sp>
        <p:nvSpPr>
          <p:cNvPr id="8" name="Churn rate label"/>
          <p:cNvSpPr txBox="1"/>
          <p:nvPr/>
        </p:nvSpPr>
        <p:spPr>
          <a:xfrm>
            <a:off x="3429000" y="2056486"/>
            <a:ext cx="2286000" cy="458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churned (cancelled their subscription)</a:t>
            </a:r>
            <a:endParaRPr lang="en-US" sz="1200" dirty="0"/>
          </a:p>
        </p:txBody>
      </p:sp>
      <p:sp>
        <p:nvSpPr>
          <p:cNvPr id="9" name="Imbalance card"/>
          <p:cNvSpPr/>
          <p:nvPr/>
        </p:nvSpPr>
        <p:spPr>
          <a:xfrm>
            <a:off x="6126480" y="1188720"/>
            <a:ext cx="256032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Imbalance value"/>
          <p:cNvSpPr txBox="1"/>
          <p:nvPr/>
        </p:nvSpPr>
        <p:spPr>
          <a:xfrm>
            <a:off x="6263640" y="1280160"/>
            <a:ext cx="228600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2.8 : 1</a:t>
            </a:r>
            <a:endParaRPr lang="en-US" sz="3400" dirty="0"/>
          </a:p>
        </p:txBody>
      </p:sp>
      <p:sp>
        <p:nvSpPr>
          <p:cNvPr id="11" name="Imbalance label"/>
          <p:cNvSpPr txBox="1"/>
          <p:nvPr/>
        </p:nvSpPr>
        <p:spPr>
          <a:xfrm>
            <a:off x="6263640" y="2056486"/>
            <a:ext cx="2286000" cy="458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retained-to-churned ratio (imbalanced classes)</a:t>
            </a:r>
            <a:endParaRPr lang="en-US" sz="1200" dirty="0"/>
          </a:p>
        </p:txBody>
      </p:sp>
      <p:sp>
        <p:nvSpPr>
          <p:cNvPr id="12" name="Goal and metric"/>
          <p:cNvSpPr txBox="1"/>
          <p:nvPr/>
        </p:nvSpPr>
        <p:spPr>
          <a:xfrm>
            <a:off x="457200" y="292608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Goal: </a:t>
            </a:r>
            <a:r>
              <a:rPr lang="en-US" sz="1500" dirty="0">
                <a:solidFill>
                  <a:schemeClr val="tx1"/>
                </a:solidFill>
              </a:rPr>
              <a:t>rank every customer by churn risk so the retention team can intervene before they cancel.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Why not accuracy? </a:t>
            </a:r>
            <a:r>
              <a:rPr lang="en-US" sz="1500" dirty="0">
                <a:solidFill>
                  <a:schemeClr val="tx1"/>
                </a:solidFill>
              </a:rPr>
              <a:t>predicting "nobody churns" is already 73% accurate and useless. We optimise ROC-AUC and inspect precision vs recall instead.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7C9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Approach: a four-phase pipeline</a:t>
            </a:r>
            <a:endParaRPr lang="en-US" sz="2800" dirty="0"/>
          </a:p>
        </p:txBody>
      </p:sp>
      <p:sp>
        <p:nvSpPr>
          <p:cNvPr id="3" name="Phase 1 card"/>
          <p:cNvSpPr/>
          <p:nvPr/>
        </p:nvSpPr>
        <p:spPr>
          <a:xfrm>
            <a:off x="457200" y="1234440"/>
            <a:ext cx="1920240" cy="265176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Phase 1 badge"/>
          <p:cNvSpPr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Phase 1 number"/>
          <p:cNvSpPr txBox="1"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Phase 1 heading"/>
          <p:cNvSpPr txBox="1"/>
          <p:nvPr/>
        </p:nvSpPr>
        <p:spPr>
          <a:xfrm>
            <a:off x="640080" y="20116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Explore &amp; engineer</a:t>
            </a:r>
            <a:endParaRPr lang="en-US" sz="1600" dirty="0"/>
          </a:p>
        </p:txBody>
      </p:sp>
      <p:sp>
        <p:nvSpPr>
          <p:cNvPr id="7" name="Phase 1 detail"/>
          <p:cNvSpPr txBox="1"/>
          <p:nvPr/>
        </p:nvSpPr>
        <p:spPr>
          <a:xfrm>
            <a:off x="640080" y="269748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EDA, hypothesis tests, 6 new features, one-hot encoding + scaling</a:t>
            </a:r>
            <a:endParaRPr lang="en-US" sz="1300" dirty="0"/>
          </a:p>
        </p:txBody>
      </p:sp>
      <p:sp>
        <p:nvSpPr>
          <p:cNvPr id="8" name="Phase 2 card"/>
          <p:cNvSpPr/>
          <p:nvPr/>
        </p:nvSpPr>
        <p:spPr>
          <a:xfrm>
            <a:off x="2578608" y="1234440"/>
            <a:ext cx="1920240" cy="265176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Phase 2 badge"/>
          <p:cNvSpPr/>
          <p:nvPr/>
        </p:nvSpPr>
        <p:spPr>
          <a:xfrm>
            <a:off x="2761488" y="14173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Phase 2 number"/>
          <p:cNvSpPr txBox="1"/>
          <p:nvPr/>
        </p:nvSpPr>
        <p:spPr>
          <a:xfrm>
            <a:off x="2761488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Phase 2 heading"/>
          <p:cNvSpPr txBox="1"/>
          <p:nvPr/>
        </p:nvSpPr>
        <p:spPr>
          <a:xfrm>
            <a:off x="2761488" y="20116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Baseline models</a:t>
            </a:r>
            <a:endParaRPr lang="en-US" sz="1600" dirty="0"/>
          </a:p>
        </p:txBody>
      </p:sp>
      <p:sp>
        <p:nvSpPr>
          <p:cNvPr id="12" name="Phase 2 detail"/>
          <p:cNvSpPr txBox="1"/>
          <p:nvPr/>
        </p:nvSpPr>
        <p:spPr>
          <a:xfrm>
            <a:off x="2761488" y="269748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Logistic Regression + Random Forest, stratified 5-fold cross-validation</a:t>
            </a:r>
            <a:endParaRPr lang="en-US" sz="1300" dirty="0"/>
          </a:p>
        </p:txBody>
      </p:sp>
      <p:sp>
        <p:nvSpPr>
          <p:cNvPr id="13" name="Phase 3 card"/>
          <p:cNvSpPr/>
          <p:nvPr/>
        </p:nvSpPr>
        <p:spPr>
          <a:xfrm>
            <a:off x="4700016" y="1234440"/>
            <a:ext cx="1920240" cy="265176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Phase 3 badge"/>
          <p:cNvSpPr/>
          <p:nvPr/>
        </p:nvSpPr>
        <p:spPr>
          <a:xfrm>
            <a:off x="4882896" y="14173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Phase 3 number"/>
          <p:cNvSpPr txBox="1"/>
          <p:nvPr/>
        </p:nvSpPr>
        <p:spPr>
          <a:xfrm>
            <a:off x="4882896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Phase 3 heading"/>
          <p:cNvSpPr txBox="1"/>
          <p:nvPr/>
        </p:nvSpPr>
        <p:spPr>
          <a:xfrm>
            <a:off x="4882896" y="20116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Boost &amp; tune</a:t>
            </a:r>
            <a:endParaRPr lang="en-US" sz="1600" dirty="0"/>
          </a:p>
        </p:txBody>
      </p:sp>
      <p:sp>
        <p:nvSpPr>
          <p:cNvPr id="17" name="Phase 3 detail"/>
          <p:cNvSpPr txBox="1"/>
          <p:nvPr/>
        </p:nvSpPr>
        <p:spPr>
          <a:xfrm>
            <a:off x="4882896" y="269748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XGBoost + LightGBM, GridSearchCV (970 fits), held-out test set</a:t>
            </a:r>
            <a:endParaRPr lang="en-US" sz="1300" dirty="0"/>
          </a:p>
        </p:txBody>
      </p:sp>
      <p:sp>
        <p:nvSpPr>
          <p:cNvPr id="18" name="Phase 4 card"/>
          <p:cNvSpPr/>
          <p:nvPr/>
        </p:nvSpPr>
        <p:spPr>
          <a:xfrm>
            <a:off x="6821424" y="1234440"/>
            <a:ext cx="1920240" cy="265176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Phase 4 badge"/>
          <p:cNvSpPr/>
          <p:nvPr/>
        </p:nvSpPr>
        <p:spPr>
          <a:xfrm>
            <a:off x="7004304" y="14173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Phase 4 number"/>
          <p:cNvSpPr txBox="1"/>
          <p:nvPr/>
        </p:nvSpPr>
        <p:spPr>
          <a:xfrm>
            <a:off x="7004304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Phase 4 heading"/>
          <p:cNvSpPr txBox="1"/>
          <p:nvPr/>
        </p:nvSpPr>
        <p:spPr>
          <a:xfrm>
            <a:off x="7004304" y="20116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Explain &amp; act</a:t>
            </a:r>
            <a:endParaRPr lang="en-US" sz="1600" dirty="0"/>
          </a:p>
        </p:txBody>
      </p:sp>
      <p:sp>
        <p:nvSpPr>
          <p:cNvPr id="22" name="Phase 4 detail"/>
          <p:cNvSpPr txBox="1"/>
          <p:nvPr/>
        </p:nvSpPr>
        <p:spPr>
          <a:xfrm>
            <a:off x="7004304" y="269748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SHAP explanations, risk segments, retention recommendations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7C9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Contract type is the strongest churn signal</a:t>
            </a:r>
            <a:endParaRPr lang="en-US" sz="2800" dirty="0"/>
          </a:p>
        </p:txBody>
      </p:sp>
      <p:graphicFrame>
        <p:nvGraphicFramePr>
          <p:cNvPr id="3" name="Churn by contract chart"/>
          <p:cNvGraphicFramePr/>
          <p:nvPr/>
        </p:nvGraphicFramePr>
        <p:xfrm>
          <a:off x="365760" y="1051560"/>
          <a:ext cx="475488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EDA highlights"/>
          <p:cNvSpPr txBox="1"/>
          <p:nvPr/>
        </p:nvSpPr>
        <p:spPr>
          <a:xfrm>
            <a:off x="5394960" y="1234440"/>
            <a:ext cx="3291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15x </a:t>
            </a:r>
            <a:r>
              <a:rPr lang="en-US" sz="1400" dirty="0">
                <a:solidFill>
                  <a:schemeClr val="tx1"/>
                </a:solidFill>
              </a:rPr>
              <a:t>more churn on month-to-month than two-year contracts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Fiber optic: </a:t>
            </a:r>
            <a:r>
              <a:rPr lang="en-US" sz="1400" dirty="0">
                <a:solidFill>
                  <a:schemeClr val="tx1"/>
                </a:solidFill>
              </a:rPr>
              <a:t>41.9% churn vs 19.0% for DSL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First year: </a:t>
            </a:r>
            <a:r>
              <a:rPr lang="en-US" sz="1400" dirty="0">
                <a:solidFill>
                  <a:schemeClr val="tx1"/>
                </a:solidFill>
              </a:rPr>
              <a:t>47% churn in months 0-12 vs 9.5% after four years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Electronic check: </a:t>
            </a:r>
            <a:r>
              <a:rPr lang="en-US" sz="1400" dirty="0">
                <a:solidFill>
                  <a:schemeClr val="tx1"/>
                </a:solidFill>
              </a:rPr>
              <a:t>45% churn vs 15-19% for other payment methods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7C9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Hypothesis tests confirm the patterns</a:t>
            </a:r>
            <a:endParaRPr lang="en-US" sz="2800" dirty="0"/>
          </a:p>
        </p:txBody>
      </p:sp>
      <p:sp>
        <p:nvSpPr>
          <p:cNvPr id="3" name="H1 card"/>
          <p:cNvSpPr/>
          <p:nvPr/>
        </p:nvSpPr>
        <p:spPr>
          <a:xfrm>
            <a:off x="457200" y="1188720"/>
            <a:ext cx="40233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H1 badge"/>
          <p:cNvSpPr/>
          <p:nvPr/>
        </p:nvSpPr>
        <p:spPr>
          <a:xfrm>
            <a:off x="640080" y="13716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H1 number"/>
          <p:cNvSpPr txBox="1"/>
          <p:nvPr/>
        </p:nvSpPr>
        <p:spPr>
          <a:xfrm>
            <a:off x="64008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H1</a:t>
            </a:r>
            <a:endParaRPr lang="en-US" sz="1600" dirty="0"/>
          </a:p>
        </p:txBody>
      </p:sp>
      <p:sp>
        <p:nvSpPr>
          <p:cNvPr id="6" name="H1 claim"/>
          <p:cNvSpPr txBox="1"/>
          <p:nvPr/>
        </p:nvSpPr>
        <p:spPr>
          <a:xfrm>
            <a:off x="1325880" y="135331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Fiber users churn more than DSL</a:t>
            </a:r>
            <a:endParaRPr lang="en-US" sz="1500" dirty="0"/>
          </a:p>
        </p:txBody>
      </p:sp>
      <p:sp>
        <p:nvSpPr>
          <p:cNvPr id="7" name="H1 verdict"/>
          <p:cNvSpPr txBox="1"/>
          <p:nvPr/>
        </p:nvSpPr>
        <p:spPr>
          <a:xfrm>
            <a:off x="1325880" y="17556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Supported</a:t>
            </a:r>
            <a:endParaRPr lang="en-US" sz="1300" dirty="0"/>
          </a:p>
        </p:txBody>
      </p:sp>
      <p:sp>
        <p:nvSpPr>
          <p:cNvPr id="8" name="H1 evidence"/>
          <p:cNvSpPr txBox="1"/>
          <p:nvPr/>
        </p:nvSpPr>
        <p:spPr>
          <a:xfrm>
            <a:off x="1325880" y="2029968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41.9% vs 19.0%, 2.2x relative risk, p &lt; 0.001</a:t>
            </a:r>
            <a:endParaRPr lang="en-US" sz="1200" dirty="0"/>
          </a:p>
        </p:txBody>
      </p:sp>
      <p:sp>
        <p:nvSpPr>
          <p:cNvPr id="9" name="H2 card"/>
          <p:cNvSpPr/>
          <p:nvPr/>
        </p:nvSpPr>
        <p:spPr>
          <a:xfrm>
            <a:off x="4663440" y="1188720"/>
            <a:ext cx="40233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H2 badge"/>
          <p:cNvSpPr/>
          <p:nvPr/>
        </p:nvSpPr>
        <p:spPr>
          <a:xfrm>
            <a:off x="4846320" y="137160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H2 number"/>
          <p:cNvSpPr txBox="1"/>
          <p:nvPr/>
        </p:nvSpPr>
        <p:spPr>
          <a:xfrm>
            <a:off x="484632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H2</a:t>
            </a:r>
            <a:endParaRPr lang="en-US" sz="1600" dirty="0"/>
          </a:p>
        </p:txBody>
      </p:sp>
      <p:sp>
        <p:nvSpPr>
          <p:cNvPr id="12" name="H2 claim"/>
          <p:cNvSpPr txBox="1"/>
          <p:nvPr/>
        </p:nvSpPr>
        <p:spPr>
          <a:xfrm>
            <a:off x="5532120" y="135331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Having a partner reduces churn</a:t>
            </a:r>
            <a:endParaRPr lang="en-US" sz="1500" dirty="0"/>
          </a:p>
        </p:txBody>
      </p:sp>
      <p:sp>
        <p:nvSpPr>
          <p:cNvPr id="13" name="H2 verdict"/>
          <p:cNvSpPr txBox="1"/>
          <p:nvPr/>
        </p:nvSpPr>
        <p:spPr>
          <a:xfrm>
            <a:off x="5532120" y="17556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Supported*</a:t>
            </a:r>
            <a:endParaRPr lang="en-US" sz="1300" dirty="0"/>
          </a:p>
        </p:txBody>
      </p:sp>
      <p:sp>
        <p:nvSpPr>
          <p:cNvPr id="14" name="H2 evidence"/>
          <p:cNvSpPr txBox="1"/>
          <p:nvPr/>
        </p:nvSpPr>
        <p:spPr>
          <a:xfrm>
            <a:off x="5532120" y="2029968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33.0% vs 19.7%, but SHAP later shows it is a proxy for tenure</a:t>
            </a:r>
            <a:endParaRPr lang="en-US" sz="1200" dirty="0"/>
          </a:p>
        </p:txBody>
      </p:sp>
      <p:sp>
        <p:nvSpPr>
          <p:cNvPr id="15" name="H3 card"/>
          <p:cNvSpPr/>
          <p:nvPr/>
        </p:nvSpPr>
        <p:spPr>
          <a:xfrm>
            <a:off x="457200" y="2880360"/>
            <a:ext cx="40233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H3 badge"/>
          <p:cNvSpPr/>
          <p:nvPr/>
        </p:nvSpPr>
        <p:spPr>
          <a:xfrm>
            <a:off x="640080" y="30632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H3 number"/>
          <p:cNvSpPr txBox="1"/>
          <p:nvPr/>
        </p:nvSpPr>
        <p:spPr>
          <a:xfrm>
            <a:off x="640080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H3</a:t>
            </a:r>
            <a:endParaRPr lang="en-US" sz="1600" dirty="0"/>
          </a:p>
        </p:txBody>
      </p:sp>
      <p:sp>
        <p:nvSpPr>
          <p:cNvPr id="18" name="H3 claim"/>
          <p:cNvSpPr txBox="1"/>
          <p:nvPr/>
        </p:nvSpPr>
        <p:spPr>
          <a:xfrm>
            <a:off x="1325880" y="304495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Month-to-month churns more</a:t>
            </a:r>
            <a:endParaRPr lang="en-US" sz="1500" dirty="0"/>
          </a:p>
        </p:txBody>
      </p:sp>
      <p:sp>
        <p:nvSpPr>
          <p:cNvPr id="19" name="H3 verdict"/>
          <p:cNvSpPr txBox="1"/>
          <p:nvPr/>
        </p:nvSpPr>
        <p:spPr>
          <a:xfrm>
            <a:off x="1325880" y="34472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Supported</a:t>
            </a:r>
            <a:endParaRPr lang="en-US" sz="1300" dirty="0"/>
          </a:p>
        </p:txBody>
      </p:sp>
      <p:sp>
        <p:nvSpPr>
          <p:cNvPr id="20" name="H3 evidence"/>
          <p:cNvSpPr txBox="1"/>
          <p:nvPr/>
        </p:nvSpPr>
        <p:spPr>
          <a:xfrm>
            <a:off x="1325880" y="3721608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Largest effect of all (Cramér's V = 0.41)</a:t>
            </a:r>
            <a:endParaRPr lang="en-US" sz="1200" dirty="0"/>
          </a:p>
        </p:txBody>
      </p:sp>
      <p:sp>
        <p:nvSpPr>
          <p:cNvPr id="21" name="Ctrl card"/>
          <p:cNvSpPr/>
          <p:nvPr/>
        </p:nvSpPr>
        <p:spPr>
          <a:xfrm>
            <a:off x="4663440" y="2880360"/>
            <a:ext cx="40233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Ctrl badge"/>
          <p:cNvSpPr/>
          <p:nvPr/>
        </p:nvSpPr>
        <p:spPr>
          <a:xfrm>
            <a:off x="4846320" y="306324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3" name="Ctrl number"/>
          <p:cNvSpPr txBox="1"/>
          <p:nvPr/>
        </p:nvSpPr>
        <p:spPr>
          <a:xfrm>
            <a:off x="4846320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Ctrl</a:t>
            </a:r>
            <a:endParaRPr lang="en-US" sz="1600" dirty="0"/>
          </a:p>
        </p:txBody>
      </p:sp>
      <p:sp>
        <p:nvSpPr>
          <p:cNvPr id="24" name="Ctrl claim"/>
          <p:cNvSpPr txBox="1"/>
          <p:nvPr/>
        </p:nvSpPr>
        <p:spPr>
          <a:xfrm>
            <a:off x="5532120" y="304495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Gender is unrelated to churn</a:t>
            </a:r>
            <a:endParaRPr lang="en-US" sz="1500" dirty="0"/>
          </a:p>
        </p:txBody>
      </p:sp>
      <p:sp>
        <p:nvSpPr>
          <p:cNvPr id="25" name="Ctrl verdict"/>
          <p:cNvSpPr txBox="1"/>
          <p:nvPr/>
        </p:nvSpPr>
        <p:spPr>
          <a:xfrm>
            <a:off x="5532120" y="34472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Not significant</a:t>
            </a:r>
            <a:endParaRPr lang="en-US" sz="1300" dirty="0"/>
          </a:p>
        </p:txBody>
      </p:sp>
      <p:sp>
        <p:nvSpPr>
          <p:cNvPr id="26" name="Ctrl evidence"/>
          <p:cNvSpPr txBox="1"/>
          <p:nvPr/>
        </p:nvSpPr>
        <p:spPr>
          <a:xfrm>
            <a:off x="5532120" y="3721608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26.9% vs 26.2%, p = 0.49</a:t>
            </a:r>
            <a:endParaRPr lang="en-US" sz="12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7C9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engineered features</a:t>
            </a:r>
            <a:endParaRPr lang="en-US" sz="2800" dirty="0"/>
          </a:p>
        </p:txBody>
      </p:sp>
      <p:sp>
        <p:nvSpPr>
          <p:cNvPr id="3" name="TotalChargesPerTenure card"/>
          <p:cNvSpPr/>
          <p:nvPr/>
        </p:nvSpPr>
        <p:spPr>
          <a:xfrm>
            <a:off x="457200" y="1188720"/>
            <a:ext cx="2624328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otalChargesPerTenure name"/>
          <p:cNvSpPr txBox="1"/>
          <p:nvPr/>
        </p:nvSpPr>
        <p:spPr>
          <a:xfrm>
            <a:off x="594360" y="12984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TotalChargesPerTenure</a:t>
            </a:r>
            <a:endParaRPr lang="en-US" sz="1400" dirty="0"/>
          </a:p>
        </p:txBody>
      </p:sp>
      <p:sp>
        <p:nvSpPr>
          <p:cNvPr id="5" name="TotalChargesPerTenure description"/>
          <p:cNvSpPr txBox="1"/>
          <p:nvPr/>
        </p:nvSpPr>
        <p:spPr>
          <a:xfrm>
            <a:off x="594360" y="16459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Average spend per month of tenure</a:t>
            </a:r>
            <a:endParaRPr lang="en-US" sz="1200" dirty="0"/>
          </a:p>
        </p:txBody>
      </p:sp>
      <p:sp>
        <p:nvSpPr>
          <p:cNvPr id="6" name="ServiceCount card"/>
          <p:cNvSpPr/>
          <p:nvPr/>
        </p:nvSpPr>
        <p:spPr>
          <a:xfrm>
            <a:off x="3264408" y="1188720"/>
            <a:ext cx="2624328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ServiceCount name"/>
          <p:cNvSpPr txBox="1"/>
          <p:nvPr/>
        </p:nvSpPr>
        <p:spPr>
          <a:xfrm>
            <a:off x="3401568" y="12984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ServiceCount</a:t>
            </a:r>
            <a:endParaRPr lang="en-US" sz="1400" dirty="0"/>
          </a:p>
        </p:txBody>
      </p:sp>
      <p:sp>
        <p:nvSpPr>
          <p:cNvPr id="8" name="ServiceCount description"/>
          <p:cNvSpPr txBox="1"/>
          <p:nvPr/>
        </p:nvSpPr>
        <p:spPr>
          <a:xfrm>
            <a:off x="3401568" y="16459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Number of add-on services (0-7)</a:t>
            </a:r>
            <a:endParaRPr lang="en-US" sz="1200" dirty="0"/>
          </a:p>
        </p:txBody>
      </p:sp>
      <p:sp>
        <p:nvSpPr>
          <p:cNvPr id="9" name="TenureGroup card"/>
          <p:cNvSpPr/>
          <p:nvPr/>
        </p:nvSpPr>
        <p:spPr>
          <a:xfrm>
            <a:off x="6071616" y="1188720"/>
            <a:ext cx="2624328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nureGroup name"/>
          <p:cNvSpPr txBox="1"/>
          <p:nvPr/>
        </p:nvSpPr>
        <p:spPr>
          <a:xfrm>
            <a:off x="6208776" y="12984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TenureGroup</a:t>
            </a:r>
            <a:endParaRPr lang="en-US" sz="1400" dirty="0"/>
          </a:p>
        </p:txBody>
      </p:sp>
      <p:sp>
        <p:nvSpPr>
          <p:cNvPr id="11" name="TenureGroup description"/>
          <p:cNvSpPr txBox="1"/>
          <p:nvPr/>
        </p:nvSpPr>
        <p:spPr>
          <a:xfrm>
            <a:off x="6208776" y="16459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0-12m / 13-24m / 25-48m / 49-72m buckets</a:t>
            </a:r>
            <a:endParaRPr lang="en-US" sz="1200" dirty="0"/>
          </a:p>
        </p:txBody>
      </p:sp>
      <p:sp>
        <p:nvSpPr>
          <p:cNvPr id="12" name="HasProtection card"/>
          <p:cNvSpPr/>
          <p:nvPr/>
        </p:nvSpPr>
        <p:spPr>
          <a:xfrm>
            <a:off x="457200" y="2423160"/>
            <a:ext cx="2624328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HasProtection name"/>
          <p:cNvSpPr txBox="1"/>
          <p:nvPr/>
        </p:nvSpPr>
        <p:spPr>
          <a:xfrm>
            <a:off x="594360" y="25328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HasProtection</a:t>
            </a:r>
            <a:endParaRPr lang="en-US" sz="1400" dirty="0"/>
          </a:p>
        </p:txBody>
      </p:sp>
      <p:sp>
        <p:nvSpPr>
          <p:cNvPr id="14" name="HasProtection description"/>
          <p:cNvSpPr txBox="1"/>
          <p:nvPr/>
        </p:nvSpPr>
        <p:spPr>
          <a:xfrm>
            <a:off x="594360" y="2880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Any security, backup, device or support service</a:t>
            </a:r>
            <a:endParaRPr lang="en-US" sz="1200" dirty="0"/>
          </a:p>
        </p:txBody>
      </p:sp>
      <p:sp>
        <p:nvSpPr>
          <p:cNvPr id="15" name="HasStreaming card"/>
          <p:cNvSpPr/>
          <p:nvPr/>
        </p:nvSpPr>
        <p:spPr>
          <a:xfrm>
            <a:off x="3264408" y="2423160"/>
            <a:ext cx="2624328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HasStreaming name"/>
          <p:cNvSpPr txBox="1"/>
          <p:nvPr/>
        </p:nvSpPr>
        <p:spPr>
          <a:xfrm>
            <a:off x="3401568" y="25328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HasStreaming</a:t>
            </a:r>
            <a:endParaRPr lang="en-US" sz="1400" dirty="0"/>
          </a:p>
        </p:txBody>
      </p:sp>
      <p:sp>
        <p:nvSpPr>
          <p:cNvPr id="17" name="HasStreaming description"/>
          <p:cNvSpPr txBox="1"/>
          <p:nvPr/>
        </p:nvSpPr>
        <p:spPr>
          <a:xfrm>
            <a:off x="3401568" y="2880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Streaming TV or movies</a:t>
            </a:r>
            <a:endParaRPr lang="en-US" sz="1200" dirty="0"/>
          </a:p>
        </p:txBody>
      </p:sp>
      <p:sp>
        <p:nvSpPr>
          <p:cNvPr id="18" name="IsAutoPay card"/>
          <p:cNvSpPr/>
          <p:nvPr/>
        </p:nvSpPr>
        <p:spPr>
          <a:xfrm>
            <a:off x="6071616" y="2423160"/>
            <a:ext cx="2624328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IsAutoPay name"/>
          <p:cNvSpPr txBox="1"/>
          <p:nvPr/>
        </p:nvSpPr>
        <p:spPr>
          <a:xfrm>
            <a:off x="6208776" y="25328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IsAutoPay</a:t>
            </a:r>
            <a:endParaRPr lang="en-US" sz="1400" dirty="0"/>
          </a:p>
        </p:txBody>
      </p:sp>
      <p:sp>
        <p:nvSpPr>
          <p:cNvPr id="20" name="IsAutoPay description"/>
          <p:cNvSpPr txBox="1"/>
          <p:nvPr/>
        </p:nvSpPr>
        <p:spPr>
          <a:xfrm>
            <a:off x="6208776" y="2880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Automatic bank or card payment</a:t>
            </a:r>
            <a:endParaRPr lang="en-US" sz="1200" dirty="0"/>
          </a:p>
        </p:txBody>
      </p:sp>
      <p:sp>
        <p:nvSpPr>
          <p:cNvPr id="21" name="Feature finding"/>
          <p:cNvSpPr txBox="1"/>
          <p:nvPr/>
        </p:nvSpPr>
        <p:spPr>
          <a:xfrm>
            <a:off x="457200" y="37490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Honest finding: </a:t>
            </a:r>
            <a:r>
              <a:rPr lang="en-US" sz="1300" dirty="0">
                <a:solidFill>
                  <a:schemeClr val="tx1"/>
                </a:solidFill>
              </a:rPr>
              <a:t>TotalChargesPerTenure turned out to duplicate MonthlyCharges (r = 1.00), and the tree models learn the other features from raw columns. The features helped most in understanding the data.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7C9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 tuning, every model reaches AUC ≈ 0.85</a:t>
            </a:r>
            <a:endParaRPr lang="en-US" sz="2800" dirty="0"/>
          </a:p>
        </p:txBody>
      </p:sp>
      <p:graphicFrame>
        <p:nvGraphicFramePr>
          <p:cNvPr id="3" name="Model comparison chart"/>
          <p:cNvGraphicFramePr/>
          <p:nvPr/>
        </p:nvGraphicFramePr>
        <p:xfrm>
          <a:off x="365760" y="1051560"/>
          <a:ext cx="512064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uning takeaways"/>
          <p:cNvSpPr txBox="1"/>
          <p:nvPr/>
        </p:nvSpPr>
        <p:spPr>
          <a:xfrm>
            <a:off x="5715000" y="1234440"/>
            <a:ext cx="2971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Untuned boosters overfit </a:t>
            </a:r>
            <a:r>
              <a:rPr lang="en-US" sz="1400" dirty="0">
                <a:solidFill>
                  <a:schemeClr val="tx1"/>
                </a:solidFill>
              </a:rPr>
              <a:t>(train AUC ≈ 1.0) and lost to Logistic Regression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Tuning fixed overfitting </a:t>
            </a:r>
            <a:r>
              <a:rPr lang="en-US" sz="1400" dirty="0">
                <a:solidFill>
                  <a:schemeClr val="tx1"/>
                </a:solidFill>
              </a:rPr>
              <a:t>by choosing simpler models: the best XGBoost uses depth-2 trees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All models plateau at ≈ 0.85, </a:t>
            </a:r>
            <a:r>
              <a:rPr lang="en-US" sz="1400" dirty="0">
                <a:solidFill>
                  <a:schemeClr val="tx1"/>
                </a:solidFill>
              </a:rPr>
              <a:t>the information ceiling of this dataset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7C9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model: XGBoost generalises to unseen data</a:t>
            </a:r>
            <a:endParaRPr lang="en-US" sz="2800" dirty="0"/>
          </a:p>
        </p:txBody>
      </p:sp>
      <p:pic>
        <p:nvPicPr>
          <p:cNvPr id="3" name="ROC and PR curves" descr="Test-set ROC and precision-recall curves for the four tuned models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051560"/>
            <a:ext cx="5760720" cy="3520440"/>
          </a:xfrm>
          <a:prstGeom prst="rect">
            <a:avLst/>
          </a:prstGeom>
        </p:spPr>
      </p:pic>
      <p:sp>
        <p:nvSpPr>
          <p:cNvPr id="4" name="Test AUC card"/>
          <p:cNvSpPr/>
          <p:nvPr/>
        </p:nvSpPr>
        <p:spPr>
          <a:xfrm>
            <a:off x="6355080" y="1097280"/>
            <a:ext cx="23317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st AUC value"/>
          <p:cNvSpPr txBox="1"/>
          <p:nvPr/>
        </p:nvSpPr>
        <p:spPr>
          <a:xfrm>
            <a:off x="6492240" y="1188720"/>
            <a:ext cx="205740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0.846</a:t>
            </a:r>
            <a:endParaRPr lang="en-US" sz="2800" dirty="0"/>
          </a:p>
        </p:txBody>
      </p:sp>
      <p:sp>
        <p:nvSpPr>
          <p:cNvPr id="6" name="Test AUC label"/>
          <p:cNvSpPr txBox="1"/>
          <p:nvPr/>
        </p:nvSpPr>
        <p:spPr>
          <a:xfrm>
            <a:off x="6492240" y="1752905"/>
            <a:ext cx="205740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test ROC-AUC (95% CI 0.824-0.867)</a:t>
            </a:r>
            <a:endParaRPr lang="en-US" sz="1200" dirty="0"/>
          </a:p>
        </p:txBody>
      </p:sp>
      <p:sp>
        <p:nvSpPr>
          <p:cNvPr id="7" name="CV AUC card"/>
          <p:cNvSpPr/>
          <p:nvPr/>
        </p:nvSpPr>
        <p:spPr>
          <a:xfrm>
            <a:off x="6355080" y="2286000"/>
            <a:ext cx="23317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CV AUC value"/>
          <p:cNvSpPr txBox="1"/>
          <p:nvPr/>
        </p:nvSpPr>
        <p:spPr>
          <a:xfrm>
            <a:off x="6492240" y="2377440"/>
            <a:ext cx="205740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0.850</a:t>
            </a:r>
            <a:endParaRPr lang="en-US" sz="2800" dirty="0"/>
          </a:p>
        </p:txBody>
      </p:sp>
      <p:sp>
        <p:nvSpPr>
          <p:cNvPr id="9" name="CV AUC label"/>
          <p:cNvSpPr txBox="1"/>
          <p:nvPr/>
        </p:nvSpPr>
        <p:spPr>
          <a:xfrm>
            <a:off x="6492240" y="2941625"/>
            <a:ext cx="205740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cross-validated AUC, so no overfitting</a:t>
            </a:r>
            <a:endParaRPr lang="en-US" sz="1200" dirty="0"/>
          </a:p>
        </p:txBody>
      </p:sp>
      <p:sp>
        <p:nvSpPr>
          <p:cNvPr id="10" name="Test size card"/>
          <p:cNvSpPr/>
          <p:nvPr/>
        </p:nvSpPr>
        <p:spPr>
          <a:xfrm>
            <a:off x="6355080" y="3474720"/>
            <a:ext cx="23317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st size value"/>
          <p:cNvSpPr txBox="1"/>
          <p:nvPr/>
        </p:nvSpPr>
        <p:spPr>
          <a:xfrm>
            <a:off x="6492240" y="3566160"/>
            <a:ext cx="205740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1,409</a:t>
            </a:r>
            <a:endParaRPr lang="en-US" sz="2800" dirty="0"/>
          </a:p>
        </p:txBody>
      </p:sp>
      <p:sp>
        <p:nvSpPr>
          <p:cNvPr id="12" name="Test size label"/>
          <p:cNvSpPr txBox="1"/>
          <p:nvPr/>
        </p:nvSpPr>
        <p:spPr>
          <a:xfrm>
            <a:off x="6492240" y="4130345"/>
            <a:ext cx="205740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test customers, used exactly once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7C9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Targeting by risk turns a loss into a profit</a:t>
            </a:r>
            <a:endParaRPr lang="en-US" sz="2800" dirty="0"/>
          </a:p>
        </p:txBody>
      </p:sp>
      <p:graphicFrame>
        <p:nvGraphicFramePr>
          <p:cNvPr id="3" name="Campaign value chart"/>
          <p:cNvGraphicFramePr/>
          <p:nvPr/>
        </p:nvGraphicFramePr>
        <p:xfrm>
          <a:off x="365760" y="1051560"/>
          <a:ext cx="512064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Recall card"/>
          <p:cNvSpPr/>
          <p:nvPr/>
        </p:nvSpPr>
        <p:spPr>
          <a:xfrm>
            <a:off x="5760720" y="1097280"/>
            <a:ext cx="292608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Recall value"/>
          <p:cNvSpPr txBox="1"/>
          <p:nvPr/>
        </p:nvSpPr>
        <p:spPr>
          <a:xfrm>
            <a:off x="5897880" y="1188720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66%</a:t>
            </a:r>
            <a:endParaRPr lang="en-US" sz="3000" dirty="0"/>
          </a:p>
        </p:txBody>
      </p:sp>
      <p:sp>
        <p:nvSpPr>
          <p:cNvPr id="6" name="Recall label"/>
          <p:cNvSpPr txBox="1"/>
          <p:nvPr/>
        </p:nvSpPr>
        <p:spPr>
          <a:xfrm>
            <a:off x="5897880" y="1779422"/>
            <a:ext cx="265176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of churners reached while contacting only 30% of customers</a:t>
            </a:r>
            <a:endParaRPr lang="en-US" sz="1200" dirty="0"/>
          </a:p>
        </p:txBody>
      </p:sp>
      <p:sp>
        <p:nvSpPr>
          <p:cNvPr id="7" name="Lift card"/>
          <p:cNvSpPr/>
          <p:nvPr/>
        </p:nvSpPr>
        <p:spPr>
          <a:xfrm>
            <a:off x="5760720" y="2331720"/>
            <a:ext cx="292608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Lift value"/>
          <p:cNvSpPr txBox="1"/>
          <p:nvPr/>
        </p:nvSpPr>
        <p:spPr>
          <a:xfrm>
            <a:off x="5897880" y="2423160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2.2x</a:t>
            </a:r>
            <a:endParaRPr lang="en-US" sz="3000" dirty="0"/>
          </a:p>
        </p:txBody>
      </p:sp>
      <p:sp>
        <p:nvSpPr>
          <p:cNvPr id="9" name="Lift label"/>
          <p:cNvSpPr txBox="1"/>
          <p:nvPr/>
        </p:nvSpPr>
        <p:spPr>
          <a:xfrm>
            <a:off x="5897880" y="3013862"/>
            <a:ext cx="265176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more churners reached than random targeting</a:t>
            </a:r>
            <a:endParaRPr lang="en-US" sz="1200" dirty="0"/>
          </a:p>
        </p:txBody>
      </p:sp>
      <p:sp>
        <p:nvSpPr>
          <p:cNvPr id="10" name="Assumptions note"/>
          <p:cNvSpPr txBox="1"/>
          <p:nvPr/>
        </p:nvSpPr>
        <p:spPr>
          <a:xfrm>
            <a:off x="5760720" y="356616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Threshold 0.65 chosen to maximise value. Assumes a $100 offer, 30% save rate and 12 months of revenue per saved customer (illustrative).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7C9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Contract, not price, is the biggest churn driver</a:t>
            </a:r>
            <a:endParaRPr lang="en-US" sz="2800" dirty="0"/>
          </a:p>
        </p:txBody>
      </p:sp>
      <p:pic>
        <p:nvPicPr>
          <p:cNvPr id="3" name="SHAP importance chart" descr="SHAP global feature importance with one-hot columns grouped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005840"/>
            <a:ext cx="4480560" cy="3611880"/>
          </a:xfrm>
          <a:prstGeom prst="rect">
            <a:avLst/>
          </a:prstGeom>
        </p:spPr>
      </p:pic>
      <p:sp>
        <p:nvSpPr>
          <p:cNvPr id="4" name="Contract vs price card"/>
          <p:cNvSpPr/>
          <p:nvPr/>
        </p:nvSpPr>
        <p:spPr>
          <a:xfrm>
            <a:off x="5120640" y="1097280"/>
            <a:ext cx="356616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ontract vs price value"/>
          <p:cNvSpPr txBox="1"/>
          <p:nvPr/>
        </p:nvSpPr>
        <p:spPr>
          <a:xfrm>
            <a:off x="5257800" y="1188720"/>
            <a:ext cx="329184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7x</a:t>
            </a:r>
            <a:endParaRPr lang="en-US" sz="3400" dirty="0"/>
          </a:p>
        </p:txBody>
      </p:sp>
      <p:sp>
        <p:nvSpPr>
          <p:cNvPr id="6" name="Contract vs price label"/>
          <p:cNvSpPr txBox="1"/>
          <p:nvPr/>
        </p:nvSpPr>
        <p:spPr>
          <a:xfrm>
            <a:off x="5257800" y="1832458"/>
            <a:ext cx="329184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Contract's SHAP impact vs MonthlyCharges (3.3x vs all price features)</a:t>
            </a:r>
            <a:endParaRPr lang="en-US" sz="1200" dirty="0"/>
          </a:p>
        </p:txBody>
      </p:sp>
      <p:sp>
        <p:nvSpPr>
          <p:cNvPr id="7" name="SHAP takeaways"/>
          <p:cNvSpPr txBox="1"/>
          <p:nvPr/>
        </p:nvSpPr>
        <p:spPr>
          <a:xfrm>
            <a:off x="5120640" y="2468880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Month-to-month </a:t>
            </a:r>
            <a:r>
              <a:rPr lang="en-US" sz="1400" dirty="0">
                <a:solidFill>
                  <a:schemeClr val="tx1"/>
                </a:solidFill>
              </a:rPr>
              <a:t>multiplies churn odds by 1.6, while a two-year contract cuts them to 0.28x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Price </a:t>
            </a:r>
            <a:r>
              <a:rPr lang="en-US" sz="1400" dirty="0">
                <a:solidFill>
                  <a:schemeClr val="tx1"/>
                </a:solidFill>
              </a:rPr>
              <a:t>only adds risk on bills above about $90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Partner </a:t>
            </a:r>
            <a:r>
              <a:rPr lang="en-US" sz="1400" dirty="0">
                <a:solidFill>
                  <a:schemeClr val="tx1"/>
                </a:solidFill>
              </a:rPr>
              <a:t>gets zero attribution: a proxy, not a cause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7C9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is at risk: month-to-month fiber customers</a:t>
            </a:r>
            <a:endParaRPr lang="en-US" sz="2800" dirty="0"/>
          </a:p>
        </p:txBody>
      </p:sp>
      <p:graphicFrame>
        <p:nvGraphicFramePr>
          <p:cNvPr id="3" name="Risk profile chart"/>
          <p:cNvGraphicFramePr/>
          <p:nvPr/>
        </p:nvGraphicFramePr>
        <p:xfrm>
          <a:off x="365760" y="1051560"/>
          <a:ext cx="53035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Flagged card"/>
          <p:cNvSpPr/>
          <p:nvPr/>
        </p:nvSpPr>
        <p:spPr>
          <a:xfrm>
            <a:off x="5943600" y="1097280"/>
            <a:ext cx="274320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Flagged value"/>
          <p:cNvSpPr txBox="1"/>
          <p:nvPr/>
        </p:nvSpPr>
        <p:spPr>
          <a:xfrm>
            <a:off x="6080760" y="1188720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2,004</a:t>
            </a:r>
            <a:endParaRPr lang="en-US" sz="3000" dirty="0"/>
          </a:p>
        </p:txBody>
      </p:sp>
      <p:sp>
        <p:nvSpPr>
          <p:cNvPr id="6" name="Flagged label"/>
          <p:cNvSpPr txBox="1"/>
          <p:nvPr/>
        </p:nvSpPr>
        <p:spPr>
          <a:xfrm>
            <a:off x="6080760" y="1779422"/>
            <a:ext cx="246888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customers flagged (28.5% of the base)</a:t>
            </a:r>
            <a:endParaRPr lang="en-US" sz="1200" dirty="0"/>
          </a:p>
        </p:txBody>
      </p:sp>
      <p:sp>
        <p:nvSpPr>
          <p:cNvPr id="7" name="Fiber share card"/>
          <p:cNvSpPr/>
          <p:nvPr/>
        </p:nvSpPr>
        <p:spPr>
          <a:xfrm>
            <a:off x="5943600" y="2331720"/>
            <a:ext cx="274320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Fiber share value"/>
          <p:cNvSpPr txBox="1"/>
          <p:nvPr/>
        </p:nvSpPr>
        <p:spPr>
          <a:xfrm>
            <a:off x="6080760" y="2423160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81%</a:t>
            </a:r>
            <a:endParaRPr lang="en-US" sz="3000" dirty="0"/>
          </a:p>
        </p:txBody>
      </p:sp>
      <p:sp>
        <p:nvSpPr>
          <p:cNvPr id="9" name="Fiber share label"/>
          <p:cNvSpPr txBox="1"/>
          <p:nvPr/>
        </p:nvSpPr>
        <p:spPr>
          <a:xfrm>
            <a:off x="6080760" y="3013862"/>
            <a:ext cx="246888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of them are month-to-month fiber customers</a:t>
            </a:r>
            <a:endParaRPr lang="en-US" sz="1200" dirty="0"/>
          </a:p>
        </p:txBody>
      </p:sp>
      <p:sp>
        <p:nvSpPr>
          <p:cNvPr id="10" name="Revenue card"/>
          <p:cNvSpPr/>
          <p:nvPr/>
        </p:nvSpPr>
        <p:spPr>
          <a:xfrm>
            <a:off x="5943600" y="3566160"/>
            <a:ext cx="274320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Revenue value"/>
          <p:cNvSpPr txBox="1"/>
          <p:nvPr/>
        </p:nvSpPr>
        <p:spPr>
          <a:xfrm>
            <a:off x="6080760" y="3657600"/>
            <a:ext cx="246888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$1.9M</a:t>
            </a:r>
            <a:endParaRPr lang="en-US" sz="3000" dirty="0"/>
          </a:p>
        </p:txBody>
      </p:sp>
      <p:sp>
        <p:nvSpPr>
          <p:cNvPr id="12" name="Revenue label"/>
          <p:cNvSpPr txBox="1"/>
          <p:nvPr/>
        </p:nvSpPr>
        <p:spPr>
          <a:xfrm>
            <a:off x="6080760" y="4221785"/>
            <a:ext cx="246888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annual revenue in the flagged group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7C9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2800" dirty="0"/>
          </a:p>
        </p:txBody>
      </p:sp>
      <p:sp>
        <p:nvSpPr>
          <p:cNvPr id="3" name="De-risked header"/>
          <p:cNvSpPr txBox="1"/>
          <p:nvPr/>
        </p:nvSpPr>
        <p:spPr>
          <a:xfrm>
            <a:off x="7498080" y="9601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4"/>
                </a:solidFill>
              </a:rPr>
              <a:t>De-risked*</a:t>
            </a:r>
            <a:endParaRPr lang="en-US" sz="1100" dirty="0"/>
          </a:p>
        </p:txBody>
      </p:sp>
      <p:sp>
        <p:nvSpPr>
          <p:cNvPr id="4" name="Rec 1 card"/>
          <p:cNvSpPr/>
          <p:nvPr/>
        </p:nvSpPr>
        <p:spPr>
          <a:xfrm>
            <a:off x="457200" y="1280160"/>
            <a:ext cx="8229600" cy="694944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Rec 1 badge"/>
          <p:cNvSpPr/>
          <p:nvPr/>
        </p:nvSpPr>
        <p:spPr>
          <a:xfrm>
            <a:off x="594360" y="139903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Rec 1 number"/>
          <p:cNvSpPr txBox="1"/>
          <p:nvPr/>
        </p:nvSpPr>
        <p:spPr>
          <a:xfrm>
            <a:off x="594360" y="1399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Rec 1 heading"/>
          <p:cNvSpPr txBox="1"/>
          <p:nvPr/>
        </p:nvSpPr>
        <p:spPr>
          <a:xfrm>
            <a:off x="1234440" y="1353312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Contract-conversion offer</a:t>
            </a:r>
            <a:endParaRPr lang="en-US" sz="1500" dirty="0"/>
          </a:p>
        </p:txBody>
      </p:sp>
      <p:sp>
        <p:nvSpPr>
          <p:cNvPr id="8" name="Rec 1 detail"/>
          <p:cNvSpPr txBox="1"/>
          <p:nvPr/>
        </p:nvSpPr>
        <p:spPr>
          <a:xfrm>
            <a:off x="1234440" y="164592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Discounted 1-year contract for flagged month-to-month customers, fiber first</a:t>
            </a:r>
            <a:endParaRPr lang="en-US" sz="1200" dirty="0"/>
          </a:p>
        </p:txBody>
      </p:sp>
      <p:sp>
        <p:nvSpPr>
          <p:cNvPr id="9" name="Rec 1 impact"/>
          <p:cNvSpPr txBox="1"/>
          <p:nvPr/>
        </p:nvSpPr>
        <p:spPr>
          <a:xfrm>
            <a:off x="7498080" y="1280160"/>
            <a:ext cx="1188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77%</a:t>
            </a:r>
            <a:endParaRPr lang="en-US" sz="2200" dirty="0"/>
          </a:p>
        </p:txBody>
      </p:sp>
      <p:sp>
        <p:nvSpPr>
          <p:cNvPr id="10" name="Rec 2 card"/>
          <p:cNvSpPr/>
          <p:nvPr/>
        </p:nvSpPr>
        <p:spPr>
          <a:xfrm>
            <a:off x="457200" y="2084832"/>
            <a:ext cx="8229600" cy="694944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Rec 2 badge"/>
          <p:cNvSpPr/>
          <p:nvPr/>
        </p:nvSpPr>
        <p:spPr>
          <a:xfrm>
            <a:off x="594360" y="2203704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Rec 2 number"/>
          <p:cNvSpPr txBox="1"/>
          <p:nvPr/>
        </p:nvSpPr>
        <p:spPr>
          <a:xfrm>
            <a:off x="594360" y="2203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Rec 2 heading"/>
          <p:cNvSpPr txBox="1"/>
          <p:nvPr/>
        </p:nvSpPr>
        <p:spPr>
          <a:xfrm>
            <a:off x="1234440" y="2157984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Fiber protection bundle</a:t>
            </a:r>
            <a:endParaRPr lang="en-US" sz="1500" dirty="0"/>
          </a:p>
        </p:txBody>
      </p:sp>
      <p:sp>
        <p:nvSpPr>
          <p:cNvPr id="14" name="Rec 2 detail"/>
          <p:cNvSpPr txBox="1"/>
          <p:nvPr/>
        </p:nvSpPr>
        <p:spPr>
          <a:xfrm>
            <a:off x="1234440" y="2450592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Online Security + Tech Support free for 6 months</a:t>
            </a:r>
            <a:endParaRPr lang="en-US" sz="1200" dirty="0"/>
          </a:p>
        </p:txBody>
      </p:sp>
      <p:sp>
        <p:nvSpPr>
          <p:cNvPr id="15" name="Rec 2 impact"/>
          <p:cNvSpPr txBox="1"/>
          <p:nvPr/>
        </p:nvSpPr>
        <p:spPr>
          <a:xfrm>
            <a:off x="7498080" y="2084832"/>
            <a:ext cx="1188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46%</a:t>
            </a:r>
            <a:endParaRPr lang="en-US" sz="2200" dirty="0"/>
          </a:p>
        </p:txBody>
      </p:sp>
      <p:sp>
        <p:nvSpPr>
          <p:cNvPr id="16" name="Rec 3 card"/>
          <p:cNvSpPr/>
          <p:nvPr/>
        </p:nvSpPr>
        <p:spPr>
          <a:xfrm>
            <a:off x="457200" y="2889504"/>
            <a:ext cx="8229600" cy="694944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Rec 3 badge"/>
          <p:cNvSpPr/>
          <p:nvPr/>
        </p:nvSpPr>
        <p:spPr>
          <a:xfrm>
            <a:off x="594360" y="300837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Rec 3 number"/>
          <p:cNvSpPr txBox="1"/>
          <p:nvPr/>
        </p:nvSpPr>
        <p:spPr>
          <a:xfrm>
            <a:off x="594360" y="3008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Rec 3 heading"/>
          <p:cNvSpPr txBox="1"/>
          <p:nvPr/>
        </p:nvSpPr>
        <p:spPr>
          <a:xfrm>
            <a:off x="1234440" y="2962656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Auto-pay incentive</a:t>
            </a:r>
            <a:endParaRPr lang="en-US" sz="1500" dirty="0"/>
          </a:p>
        </p:txBody>
      </p:sp>
      <p:sp>
        <p:nvSpPr>
          <p:cNvPr id="20" name="Rec 3 detail"/>
          <p:cNvSpPr txBox="1"/>
          <p:nvPr/>
        </p:nvSpPr>
        <p:spPr>
          <a:xfrm>
            <a:off x="1234440" y="3255264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Small credit for switching from electronic check</a:t>
            </a:r>
            <a:endParaRPr lang="en-US" sz="1200" dirty="0"/>
          </a:p>
        </p:txBody>
      </p:sp>
      <p:sp>
        <p:nvSpPr>
          <p:cNvPr id="21" name="Rec 3 impact"/>
          <p:cNvSpPr txBox="1"/>
          <p:nvPr/>
        </p:nvSpPr>
        <p:spPr>
          <a:xfrm>
            <a:off x="7498080" y="2889504"/>
            <a:ext cx="1188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24%</a:t>
            </a:r>
            <a:endParaRPr lang="en-US" sz="2200" dirty="0"/>
          </a:p>
        </p:txBody>
      </p:sp>
      <p:sp>
        <p:nvSpPr>
          <p:cNvPr id="22" name="Rec 4 card"/>
          <p:cNvSpPr/>
          <p:nvPr/>
        </p:nvSpPr>
        <p:spPr>
          <a:xfrm>
            <a:off x="457200" y="3694176"/>
            <a:ext cx="8229600" cy="694944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Rec 4 badge"/>
          <p:cNvSpPr/>
          <p:nvPr/>
        </p:nvSpPr>
        <p:spPr>
          <a:xfrm>
            <a:off x="594360" y="381304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Rec 4 number"/>
          <p:cNvSpPr txBox="1"/>
          <p:nvPr/>
        </p:nvSpPr>
        <p:spPr>
          <a:xfrm>
            <a:off x="594360" y="3813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5" name="Rec 4 heading"/>
          <p:cNvSpPr txBox="1"/>
          <p:nvPr/>
        </p:nvSpPr>
        <p:spPr>
          <a:xfrm>
            <a:off x="1234440" y="3767328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First-year onboarding</a:t>
            </a:r>
            <a:endParaRPr lang="en-US" sz="1500" dirty="0"/>
          </a:p>
        </p:txBody>
      </p:sp>
      <p:sp>
        <p:nvSpPr>
          <p:cNvPr id="26" name="Rec 4 detail"/>
          <p:cNvSpPr txBox="1"/>
          <p:nvPr/>
        </p:nvSpPr>
        <p:spPr>
          <a:xfrm>
            <a:off x="1234440" y="4059936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Check-ins at months 1, 3 and 6 for new customers</a:t>
            </a:r>
            <a:endParaRPr lang="en-US" sz="1200" dirty="0"/>
          </a:p>
        </p:txBody>
      </p:sp>
      <p:sp>
        <p:nvSpPr>
          <p:cNvPr id="27" name="Rec 4 impact"/>
          <p:cNvSpPr txBox="1"/>
          <p:nvPr/>
        </p:nvSpPr>
        <p:spPr>
          <a:xfrm>
            <a:off x="7498080" y="3694176"/>
            <a:ext cx="1188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</a:t>
            </a:r>
            <a:endParaRPr lang="en-US" sz="2200" dirty="0"/>
          </a:p>
        </p:txBody>
      </p:sp>
      <p:sp>
        <p:nvSpPr>
          <p:cNvPr id="28" name="Footnote"/>
          <p:cNvSpPr txBox="1"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*Share of high-risk test customers the model no longer flags after the change. Model-based estimate, to be confirmed with an A/B test.</a:t>
            </a:r>
            <a:endParaRPr lang="en-US" sz="10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7C9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32588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next steps</a:t>
            </a:r>
            <a:endParaRPr lang="en-US" sz="3800" dirty="0"/>
          </a:p>
        </p:txBody>
      </p:sp>
      <p:sp>
        <p:nvSpPr>
          <p:cNvPr id="3" name="Conclusion points"/>
          <p:cNvSpPr txBox="1"/>
          <p:nvPr/>
        </p:nvSpPr>
        <p:spPr>
          <a:xfrm>
            <a:off x="548640" y="2788920"/>
            <a:ext cx="8046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XGBoost flags at-risk customers with AUC 0.85 and explains every score with SHAP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Lock in month-to-month fiber customers with longer contracts and protection bundles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Next: A/B-test the offers, add usage and support data, and score customers monthly</a:t>
            </a:r>
            <a:endParaRPr lang="en-US" sz="1600" dirty="0"/>
          </a:p>
        </p:txBody>
      </p:sp>
      <p:sp>
        <p:nvSpPr>
          <p:cNvPr id="5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7432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nnectTel Churn">
  <a:themeElements>
    <a:clrScheme name="ConnectTel Churn">
      <a:dk1>
        <a:srgbClr val="1B2430"/>
      </a:dk1>
      <a:lt1>
        <a:srgbClr val="FFFFFF"/>
      </a:lt1>
      <a:dk2>
        <a:srgbClr val="0F2742"/>
      </a:dk2>
      <a:lt2>
        <a:srgbClr val="EEF3F7"/>
      </a:lt2>
      <a:accent1>
        <a:srgbClr val="0E9F9A"/>
      </a:accent1>
      <a:accent2>
        <a:srgbClr val="E4572E"/>
      </a:accent2>
      <a:accent3>
        <a:srgbClr val="F2A541"/>
      </a:accent3>
      <a:accent4>
        <a:srgbClr val="5B7C99"/>
      </a:accent4>
      <a:accent5>
        <a:srgbClr val="9BB7D4"/>
      </a:accent5>
      <a:accent6>
        <a:srgbClr val="2E7D32"/>
      </a:accent6>
      <a:hlink>
        <a:srgbClr val="0E9F9A"/>
      </a:hlink>
      <a:folHlink>
        <a:srgbClr val="5B7C99"/>
      </a:folHlink>
    </a:clrScheme>
    <a:fontScheme name="ConnectTel Chur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1239</Words>
  <Application>Microsoft Office PowerPoint</Application>
  <PresentationFormat>On-screen Show (16:9)</PresentationFormat>
  <Paragraphs>155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ConnectTel Churn</vt:lpstr>
      <vt:lpstr>Predicting Customer Churn at ConnectTel</vt:lpstr>
      <vt:lpstr>The problem: 1 in 4 customers is leaving</vt:lpstr>
      <vt:lpstr>Approach: a four-phase pipeline</vt:lpstr>
      <vt:lpstr>Contract type is the strongest churn signal</vt:lpstr>
      <vt:lpstr>Hypothesis tests confirm the patterns</vt:lpstr>
      <vt:lpstr>Six engineered features</vt:lpstr>
      <vt:lpstr>After tuning, every model reaches AUC ≈ 0.85</vt:lpstr>
      <vt:lpstr>Final model: XGBoost generalises to unseen data</vt:lpstr>
      <vt:lpstr>Targeting by risk turns a loss into a profit</vt:lpstr>
      <vt:lpstr>Contract, not price, is the biggest churn driver</vt:lpstr>
      <vt:lpstr>Who is at risk: month-to-month fiber customers</vt:lpstr>
      <vt:lpstr>Recommendations</vt:lpstr>
      <vt:lpstr>Conclusion &amp; next steps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ConnectTel: Predictive Customer Churn Model</dc:title>
  <dc:subject>PptxGenJS Presentation</dc:subject>
  <dc:creator>Tejas Waghere</dc:creator>
  <cp:lastModifiedBy>Microsoft account</cp:lastModifiedBy>
  <cp:revision>2</cp:revision>
  <dcterms:created xsi:type="dcterms:W3CDTF">2026-10-14T12:27:11Z</dcterms:created>
  <dcterms:modified xsi:type="dcterms:W3CDTF">2026-10-14T12:53:32Z</dcterms:modified>
</cp:coreProperties>
</file>